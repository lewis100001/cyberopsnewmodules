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ppt/tags/tag34.xml" ContentType="application/vnd.openxmlformats-officedocument.presentationml.tags+xml"/>
  <Override PartName="/ppt/notesSlides/notesSlide35.xml" ContentType="application/vnd.openxmlformats-officedocument.presentationml.notesSlide+xml"/>
  <Override PartName="/ppt/tags/tag35.xml" ContentType="application/vnd.openxmlformats-officedocument.presentationml.tags+xml"/>
  <Override PartName="/ppt/notesSlides/notesSlide36.xml" ContentType="application/vnd.openxmlformats-officedocument.presentationml.notesSlide+xml"/>
  <Override PartName="/ppt/tags/tag36.xml" ContentType="application/vnd.openxmlformats-officedocument.presentationml.tags+xml"/>
  <Override PartName="/ppt/notesSlides/notesSlide37.xml" ContentType="application/vnd.openxmlformats-officedocument.presentationml.notesSlide+xml"/>
  <Override PartName="/ppt/tags/tag37.xml" ContentType="application/vnd.openxmlformats-officedocument.presentationml.tags+xml"/>
  <Override PartName="/ppt/notesSlides/notesSlide38.xml" ContentType="application/vnd.openxmlformats-officedocument.presentationml.notesSlide+xml"/>
  <Override PartName="/ppt/tags/tag38.xml" ContentType="application/vnd.openxmlformats-officedocument.presentationml.tags+xml"/>
  <Override PartName="/ppt/notesSlides/notesSlide39.xml" ContentType="application/vnd.openxmlformats-officedocument.presentationml.notesSlide+xml"/>
  <Override PartName="/ppt/tags/tag39.xml" ContentType="application/vnd.openxmlformats-officedocument.presentationml.tags+xml"/>
  <Override PartName="/ppt/notesSlides/notesSlide40.xml" ContentType="application/vnd.openxmlformats-officedocument.presentationml.notesSlide+xml"/>
  <Override PartName="/ppt/tags/tag40.xml" ContentType="application/vnd.openxmlformats-officedocument.presentationml.tags+xml"/>
  <Override PartName="/ppt/notesSlides/notesSlide41.xml" ContentType="application/vnd.openxmlformats-officedocument.presentationml.notesSlide+xml"/>
  <Override PartName="/ppt/tags/tag41.xml" ContentType="application/vnd.openxmlformats-officedocument.presentationml.tags+xml"/>
  <Override PartName="/ppt/notesSlides/notesSlide42.xml" ContentType="application/vnd.openxmlformats-officedocument.presentationml.notesSlide+xml"/>
  <Override PartName="/ppt/tags/tag42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50"/>
  </p:notesMasterIdLst>
  <p:sldIdLst>
    <p:sldId id="1184" r:id="rId2"/>
    <p:sldId id="1185" r:id="rId3"/>
    <p:sldId id="1186" r:id="rId4"/>
    <p:sldId id="1187" r:id="rId5"/>
    <p:sldId id="1188" r:id="rId6"/>
    <p:sldId id="1189" r:id="rId7"/>
    <p:sldId id="1190" r:id="rId8"/>
    <p:sldId id="1191" r:id="rId9"/>
    <p:sldId id="1192" r:id="rId10"/>
    <p:sldId id="1193" r:id="rId11"/>
    <p:sldId id="1194" r:id="rId12"/>
    <p:sldId id="1195" r:id="rId13"/>
    <p:sldId id="1196" r:id="rId14"/>
    <p:sldId id="1197" r:id="rId15"/>
    <p:sldId id="1198" r:id="rId16"/>
    <p:sldId id="1199" r:id="rId17"/>
    <p:sldId id="1200" r:id="rId18"/>
    <p:sldId id="1201" r:id="rId19"/>
    <p:sldId id="1202" r:id="rId20"/>
    <p:sldId id="1203" r:id="rId21"/>
    <p:sldId id="1204" r:id="rId22"/>
    <p:sldId id="1205" r:id="rId23"/>
    <p:sldId id="1206" r:id="rId24"/>
    <p:sldId id="1207" r:id="rId25"/>
    <p:sldId id="1208" r:id="rId26"/>
    <p:sldId id="1209" r:id="rId27"/>
    <p:sldId id="1210" r:id="rId28"/>
    <p:sldId id="1211" r:id="rId29"/>
    <p:sldId id="1212" r:id="rId30"/>
    <p:sldId id="1213" r:id="rId31"/>
    <p:sldId id="1214" r:id="rId32"/>
    <p:sldId id="1215" r:id="rId33"/>
    <p:sldId id="1216" r:id="rId34"/>
    <p:sldId id="1217" r:id="rId35"/>
    <p:sldId id="1218" r:id="rId36"/>
    <p:sldId id="1219" r:id="rId37"/>
    <p:sldId id="1220" r:id="rId38"/>
    <p:sldId id="1221" r:id="rId39"/>
    <p:sldId id="1222" r:id="rId40"/>
    <p:sldId id="1223" r:id="rId41"/>
    <p:sldId id="1224" r:id="rId42"/>
    <p:sldId id="1225" r:id="rId43"/>
    <p:sldId id="1226" r:id="rId44"/>
    <p:sldId id="1227" r:id="rId45"/>
    <p:sldId id="1228" r:id="rId46"/>
    <p:sldId id="1229" r:id="rId47"/>
    <p:sldId id="1230" r:id="rId48"/>
    <p:sldId id="1231" r:id="rId49"/>
  </p:sldIdLst>
  <p:sldSz cx="9144000" cy="5143500" type="screen16x9"/>
  <p:notesSz cx="6858000" cy="9144000"/>
  <p:custDataLst>
    <p:tags r:id="rId5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4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3" clrIdx="4">
    <p:extLst>
      <p:ext uri="{19B8F6BF-5375-455C-9EA6-DF929625EA0E}">
        <p15:presenceInfo xmlns:p15="http://schemas.microsoft.com/office/powerpoint/2012/main" userId="jagibbon" providerId="None"/>
      </p:ext>
    </p:extLst>
  </p:cmAuthor>
  <p:cmAuthor id="5" name="Sneha Alex" initials="SA" lastIdx="20" clrIdx="5">
    <p:extLst>
      <p:ext uri="{19B8F6BF-5375-455C-9EA6-DF929625EA0E}">
        <p15:presenceInfo xmlns:p15="http://schemas.microsoft.com/office/powerpoint/2012/main" userId="S-1-5-21-1801674531-1177238915-682003330-3294822" providerId="AD"/>
      </p:ext>
    </p:extLst>
  </p:cmAuthor>
  <p:cmAuthor id="6" name="Telethia Willis (twillis)" initials="TW(" lastIdx="2" clrIdx="6">
    <p:extLst>
      <p:ext uri="{19B8F6BF-5375-455C-9EA6-DF929625EA0E}">
        <p15:presenceInfo xmlns:p15="http://schemas.microsoft.com/office/powerpoint/2012/main" userId="S::twillis@cisco.com::b3a0f02c-775d-4737-9fd6-3f4e1d55c5e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8585B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83598" autoAdjust="0"/>
  </p:normalViewPr>
  <p:slideViewPr>
    <p:cSldViewPr snapToGrid="0" showGuides="1">
      <p:cViewPr varScale="1">
        <p:scale>
          <a:sx n="91" d="100"/>
          <a:sy n="91" d="100"/>
        </p:scale>
        <p:origin x="120" y="144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pPr/>
              <a:t>10/27/2020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CyberOps Associate v1.0</a:t>
            </a:r>
          </a:p>
          <a:p>
            <a:pPr>
              <a:buFontTx/>
              <a:buNone/>
            </a:pPr>
            <a:r>
              <a:rPr lang="en-US" sz="1200" b="0" dirty="0"/>
              <a:t>Module 12: </a:t>
            </a:r>
            <a:r>
              <a:rPr lang="en-IN" sz="1200" b="0" dirty="0">
                <a:solidFill>
                  <a:srgbClr val="FF0000"/>
                </a:solidFill>
              </a:rPr>
              <a:t>Network Security Infrastructure</a:t>
            </a:r>
            <a:endParaRPr lang="en-GB" b="0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buFontTx/>
              <a:buNone/>
            </a:pPr>
            <a:endParaRPr lang="en-US" sz="1200" b="0" dirty="0">
              <a:solidFill>
                <a:srgbClr val="FF0000"/>
              </a:solidFill>
            </a:endParaRPr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FF0000"/>
                </a:solidFill>
              </a:rPr>
              <a:t>Time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sz="1000" b="0" dirty="0">
                <a:solidFill>
                  <a:schemeClr val="tx1"/>
                </a:solidFill>
              </a:rPr>
              <a:t>5</a:t>
            </a:r>
            <a:r>
              <a:rPr lang="en-US" sz="1000" b="0" dirty="0"/>
              <a:t> min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Welcome the audience in a warm and cordial manner. Ensure that everyone is set up with the required resources.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Introduce the topic and encourage learners to come up with a list of expectations from the session. Collate topics on the white board or Desktop while using learner’s inputs to interpret them in words.</a:t>
            </a:r>
            <a:r>
              <a:rPr lang="en-US" sz="1000" b="1" dirty="0"/>
              <a:t> 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prstClr val="black"/>
                </a:solidFill>
              </a:rPr>
              <a:t>Interact with the learners to give an overview of network security infrastructure.</a:t>
            </a:r>
            <a:endParaRPr lang="en-US" sz="1050" b="0" dirty="0">
              <a:solidFill>
                <a:prstClr val="black"/>
              </a:solidFill>
            </a:endParaRP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Read out the Objectives and briefly describe each.</a:t>
            </a:r>
            <a:r>
              <a:rPr lang="en-US" sz="1000" dirty="0">
                <a:solidFill>
                  <a:prstClr val="black"/>
                </a:solidFill>
              </a:rPr>
              <a:t>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/>
              <a:t>Key Points: </a:t>
            </a:r>
            <a:r>
              <a:rPr lang="en-US" sz="1200" b="0" i="0" dirty="0"/>
              <a:t>NA</a:t>
            </a:r>
            <a:endParaRPr lang="en-US" sz="1200" i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790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CyberOps Associate v1.0</a:t>
            </a:r>
          </a:p>
          <a:p>
            <a:pPr>
              <a:buFontTx/>
              <a:buNone/>
            </a:pPr>
            <a:r>
              <a:rPr lang="en-US" sz="1200" b="0" dirty="0"/>
              <a:t>12 </a:t>
            </a:r>
            <a:r>
              <a:rPr lang="en-GB" dirty="0"/>
              <a:t>–</a:t>
            </a:r>
            <a:r>
              <a:rPr lang="en-US" sz="1200" b="0" dirty="0"/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Security Infrastructure</a:t>
            </a:r>
            <a:endParaRPr lang="en-GB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GB" dirty="0"/>
              <a:t>12.0 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Introduction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12.0.2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Will I Learn in this Module?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6616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Source:</a:t>
            </a:r>
          </a:p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dirty="0"/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Time</a:t>
            </a:r>
            <a:r>
              <a:rPr lang="en-US" b="1" dirty="0"/>
              <a:t>: </a:t>
            </a:r>
            <a:r>
              <a:rPr lang="en-US" sz="1000" b="0" dirty="0"/>
              <a:t>20</a:t>
            </a:r>
            <a:r>
              <a:rPr lang="en-US" sz="1000" b="0" baseline="0" dirty="0"/>
              <a:t> min</a:t>
            </a:r>
            <a:endParaRPr lang="en-US" sz="10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aseline="0" dirty="0"/>
              <a:t>Explain the important terms or symbols used to </a:t>
            </a:r>
            <a:r>
              <a:rPr lang="en-US" sz="1000" dirty="0"/>
              <a:t>represent different devices and connections within the network.</a:t>
            </a:r>
            <a:endParaRPr lang="en-US" sz="1000" baseline="0" dirty="0"/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Describe the different types of topologies with their respective diagrams.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List the different types of networks.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Differentiate between LANs and WANs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Discuss the common security architectures with examples.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 that the</a:t>
            </a:r>
            <a:r>
              <a: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learners</a:t>
            </a: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complete the “Check Your Understanding 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Identify</a:t>
            </a:r>
            <a:r>
              <a:rPr lang="en-US" sz="10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n-I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Network Topology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in section 12.1.8.</a:t>
            </a:r>
            <a:endParaRPr lang="en-US" sz="1000" baseline="0" dirty="0"/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dirty="0"/>
              <a:t>Key Points:</a:t>
            </a:r>
            <a:r>
              <a:rPr lang="en-US" sz="1100" b="1" dirty="0"/>
              <a:t>  </a:t>
            </a:r>
            <a:r>
              <a:rPr lang="en-US" sz="1100" b="0" dirty="0"/>
              <a:t>Topology</a:t>
            </a:r>
            <a:r>
              <a:rPr lang="en-US" sz="1100" b="0" baseline="0" dirty="0"/>
              <a:t> diagrams, LANs and WANs, </a:t>
            </a:r>
            <a:r>
              <a:rPr lang="en-US" dirty="0"/>
              <a:t>Three-Layer Network Design Model , Common</a:t>
            </a:r>
            <a:r>
              <a:rPr lang="en-US" baseline="0" dirty="0"/>
              <a:t> Security Architectures.</a:t>
            </a:r>
            <a:endParaRPr lang="en-US" altLang="en-US" dirty="0"/>
          </a:p>
          <a:p>
            <a:pPr marL="0" lvl="0" indent="-287337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4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</a:t>
            </a:r>
            <a:r>
              <a:rPr lang="en-GB" dirty="0"/>
              <a:t>–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12.1.1– Network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861581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 – Network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Security Infrastructure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12.1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Topologies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12.1.2 – Topology Diagrams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837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12.1.3</a:t>
            </a:r>
            <a:r>
              <a:rPr lang="en-GB" baseline="0" dirty="0"/>
              <a:t> </a:t>
            </a:r>
            <a:r>
              <a:rPr lang="en-GB" dirty="0"/>
              <a:t>– </a:t>
            </a:r>
            <a:r>
              <a:rPr lang="en-IN" dirty="0"/>
              <a:t>Networks of Many Sizes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8474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12.1.4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LANs and WANs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6141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12.1.4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LANs and WANs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378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12.1.5 – </a:t>
            </a:r>
            <a:r>
              <a:rPr lang="en-US" dirty="0"/>
              <a:t>The Three-Layer Network Design Model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18341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12.1.5 – </a:t>
            </a:r>
            <a:r>
              <a:rPr lang="en-US" dirty="0"/>
              <a:t>The Three-Layer Network Design Model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63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12.1.6 – </a:t>
            </a:r>
            <a:r>
              <a:rPr lang="en-IN" dirty="0"/>
              <a:t>Video - Three-Layer Network Design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5861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</a:t>
            </a:r>
            <a:r>
              <a:rPr lang="en-GB" dirty="0"/>
              <a:t>–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12.1.7</a:t>
            </a:r>
            <a:r>
              <a:rPr lang="en-GB" baseline="0" dirty="0"/>
              <a:t> </a:t>
            </a:r>
            <a:r>
              <a:rPr lang="en-GB" dirty="0"/>
              <a:t>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Security Architectures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7280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Security Architectures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34720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12.1.7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Security Architectures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12.1.8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Identify the Network Topology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1361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Network Topologies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12.1.9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Tracer - Identify Packet Flow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5607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Source:</a:t>
            </a:r>
          </a:p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dirty="0"/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Time</a:t>
            </a:r>
            <a:r>
              <a:rPr lang="en-US" b="1" dirty="0"/>
              <a:t>: </a:t>
            </a:r>
            <a:r>
              <a:rPr lang="en-US" sz="1000" b="0" dirty="0"/>
              <a:t>20 min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In</a:t>
            </a:r>
            <a:r>
              <a:rPr lang="en-US" sz="1000" baseline="0" dirty="0"/>
              <a:t>troduce the topic by demonstrating a video to the learners on security devices.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Explain the different types of firewalls with examples.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Describe the concepts of IPS and IDS.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Discuss examples of specialized security appliances.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 that the</a:t>
            </a:r>
            <a:r>
              <a: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learners</a:t>
            </a: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complete the “Check Your Understanding 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Identify</a:t>
            </a:r>
            <a:r>
              <a:rPr lang="en-US" sz="10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Type</a:t>
            </a:r>
            <a:r>
              <a:rPr lang="en-IN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Firewall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in section 12.2.4.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Key Points:</a:t>
            </a:r>
            <a:r>
              <a:rPr lang="en-US" sz="1100" b="1" dirty="0"/>
              <a:t>  </a:t>
            </a:r>
            <a:r>
              <a:rPr lang="en-US" sz="1100" b="0" dirty="0"/>
              <a:t>Firewalls, Intrusion Detection and Prevention systems,</a:t>
            </a:r>
            <a:r>
              <a:rPr lang="en-US" sz="1100" b="0" baseline="0" dirty="0"/>
              <a:t> Specialized Security Appliances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801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12.2.1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 - Security Devices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9229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12.2.2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5895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12.2.2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0634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88866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0692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4619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2276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Firewall</a:t>
            </a:r>
            <a:r>
              <a:rPr lang="en-IN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 Descriptions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12.2.4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Identify the Type of Firewall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68074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12.2.5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Intrusion Prevention and Detection Devices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56721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12.2.6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Advantages and Disadvantages of IDS and IPS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23415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of IPS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439697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of IPS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13861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12.2 – </a:t>
            </a:r>
            <a:r>
              <a:rPr lang="en-IN" sz="1200" b="0" dirty="0">
                <a:solidFill>
                  <a:srgbClr val="FF0000"/>
                </a:solidFill>
              </a:rPr>
              <a:t>Security Devices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12.2.8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Specialized Security Appliances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12.2.9 – </a:t>
            </a:r>
            <a:r>
              <a:rPr lang="en-US" b="0" i="0" dirty="0">
                <a:solidFill>
                  <a:srgbClr val="056153"/>
                </a:solidFill>
                <a:effectLst/>
                <a:latin typeface="CiscoSans"/>
              </a:rPr>
              <a:t>Check Your Understanding - Compare IDS and IPS Characteristics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79531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55432"/>
            <a:ext cx="54864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Source:</a:t>
            </a:r>
          </a:p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dirty="0"/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Time</a:t>
            </a:r>
            <a:r>
              <a:rPr lang="en-US" b="1" dirty="0"/>
              <a:t>: </a:t>
            </a:r>
            <a:r>
              <a:rPr lang="en-US" sz="1000" b="0" dirty="0"/>
              <a:t>15 min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In this topic, the leaners will get</a:t>
            </a:r>
            <a:r>
              <a:rPr lang="en-US" sz="1000" baseline="0" dirty="0"/>
              <a:t> a knowledge of the different security services available.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List the important features of ACL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/>
              <a:t>Discuss </a:t>
            </a:r>
            <a:r>
              <a:rPr lang="en-US" sz="1000" dirty="0">
                <a:solidFill>
                  <a:srgbClr val="000000"/>
                </a:solidFill>
              </a:rPr>
              <a:t>Simple Network Management Protocol (SNMP) with the help of an example.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Describe NetFlow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Briefly explain port mirroring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Discuss Syslog servers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Explain NTP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 that the</a:t>
            </a:r>
            <a:r>
              <a: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learners</a:t>
            </a:r>
            <a:r>
              <a: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complete the “Check Your Understanding 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dentify the Network Security Device or Service</a:t>
            </a:r>
            <a:r>
              <a:rPr lang="en-US" sz="10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in section 12.3.12.</a:t>
            </a:r>
            <a:endParaRPr lang="en-US" sz="1000" baseline="0" dirty="0">
              <a:solidFill>
                <a:srgbClr val="000000"/>
              </a:solidFill>
            </a:endParaRP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Walk the learners through AAA servers</a:t>
            </a:r>
          </a:p>
          <a:p>
            <a:pPr marL="341313" lvl="1" indent="-171450">
              <a:buFont typeface="Arial" panose="020B0604020202020204" pitchFamily="34" charset="0"/>
              <a:buChar char="•"/>
            </a:pPr>
            <a:r>
              <a:rPr lang="en-US" sz="1000" baseline="0" dirty="0">
                <a:solidFill>
                  <a:srgbClr val="000000"/>
                </a:solidFill>
              </a:rPr>
              <a:t>Describe VPN</a:t>
            </a:r>
            <a:endParaRPr lang="en-US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Key Points:</a:t>
            </a:r>
            <a:r>
              <a:rPr lang="en-US" sz="1100" b="1" dirty="0"/>
              <a:t>  </a:t>
            </a:r>
            <a:r>
              <a:rPr lang="en-US" sz="1100" b="0" dirty="0"/>
              <a:t>ACL, SNMP, NetFlow,</a:t>
            </a:r>
            <a:r>
              <a:rPr lang="en-US" sz="1200" b="0" baseline="0" dirty="0"/>
              <a:t> Port Mirroring, Syslog Server, NTP, AAA, VPN</a:t>
            </a:r>
            <a:endParaRPr lang="en-US" sz="11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554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 - Security Services</a:t>
            </a:r>
          </a:p>
        </p:txBody>
      </p:sp>
    </p:spTree>
    <p:extLst>
      <p:ext uri="{BB962C8B-B14F-4D97-AF65-F5344CB8AC3E}">
        <p14:creationId xmlns:p14="http://schemas.microsoft.com/office/powerpoint/2010/main" val="26991649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12.3.2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 Control with ACLs</a:t>
            </a:r>
          </a:p>
        </p:txBody>
      </p:sp>
    </p:spTree>
    <p:extLst>
      <p:ext uri="{BB962C8B-B14F-4D97-AF65-F5344CB8AC3E}">
        <p14:creationId xmlns:p14="http://schemas.microsoft.com/office/powerpoint/2010/main" val="35776205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12.3.3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ACLs: Important Features</a:t>
            </a:r>
          </a:p>
        </p:txBody>
      </p:sp>
    </p:spTree>
    <p:extLst>
      <p:ext uri="{BB962C8B-B14F-4D97-AF65-F5344CB8AC3E}">
        <p14:creationId xmlns:p14="http://schemas.microsoft.com/office/powerpoint/2010/main" val="38136469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12.3.4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Packet Tracer - ACL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2203740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12.3.5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SNMP</a:t>
            </a:r>
          </a:p>
        </p:txBody>
      </p:sp>
    </p:spTree>
    <p:extLst>
      <p:ext uri="{BB962C8B-B14F-4D97-AF65-F5344CB8AC3E}">
        <p14:creationId xmlns:p14="http://schemas.microsoft.com/office/powerpoint/2010/main" val="35938170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12.3.6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NetFlow</a:t>
            </a:r>
          </a:p>
        </p:txBody>
      </p:sp>
    </p:spTree>
    <p:extLst>
      <p:ext uri="{BB962C8B-B14F-4D97-AF65-F5344CB8AC3E}">
        <p14:creationId xmlns:p14="http://schemas.microsoft.com/office/powerpoint/2010/main" val="17315753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12.3.7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 Mirroring</a:t>
            </a:r>
          </a:p>
        </p:txBody>
      </p:sp>
    </p:spTree>
    <p:extLst>
      <p:ext uri="{BB962C8B-B14F-4D97-AF65-F5344CB8AC3E}">
        <p14:creationId xmlns:p14="http://schemas.microsoft.com/office/powerpoint/2010/main" val="6351954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12.3.8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Syslog Servers</a:t>
            </a:r>
          </a:p>
        </p:txBody>
      </p:sp>
    </p:spTree>
    <p:extLst>
      <p:ext uri="{BB962C8B-B14F-4D97-AF65-F5344CB8AC3E}">
        <p14:creationId xmlns:p14="http://schemas.microsoft.com/office/powerpoint/2010/main" val="13351075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12.3.9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NTP</a:t>
            </a:r>
          </a:p>
        </p:txBody>
      </p:sp>
    </p:spTree>
    <p:extLst>
      <p:ext uri="{BB962C8B-B14F-4D97-AF65-F5344CB8AC3E}">
        <p14:creationId xmlns:p14="http://schemas.microsoft.com/office/powerpoint/2010/main" val="22122470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12.3.10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Servers</a:t>
            </a:r>
          </a:p>
        </p:txBody>
      </p:sp>
    </p:spTree>
    <p:extLst>
      <p:ext uri="{BB962C8B-B14F-4D97-AF65-F5344CB8AC3E}">
        <p14:creationId xmlns:p14="http://schemas.microsoft.com/office/powerpoint/2010/main" val="3632659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12.3.10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AAA Servers</a:t>
            </a:r>
          </a:p>
        </p:txBody>
      </p:sp>
    </p:spTree>
    <p:extLst>
      <p:ext uri="{BB962C8B-B14F-4D97-AF65-F5344CB8AC3E}">
        <p14:creationId xmlns:p14="http://schemas.microsoft.com/office/powerpoint/2010/main" val="3433326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12.3 – </a:t>
            </a:r>
            <a:r>
              <a:rPr lang="en-IN" sz="1200" b="0" dirty="0">
                <a:solidFill>
                  <a:srgbClr val="FF0000"/>
                </a:solidFill>
              </a:rPr>
              <a:t>Security Services</a:t>
            </a:r>
            <a:endParaRPr lang="en-GB" b="0" dirty="0">
              <a:solidFill>
                <a:srgbClr val="FF0000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12.3.11 – </a:t>
            </a:r>
            <a:r>
              <a:rPr lang="en-I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VPN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12.3.12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Identify the Network Security Device or Service</a:t>
            </a:r>
            <a:endParaRPr lang="en-I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3764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Source:</a:t>
            </a:r>
          </a:p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dirty="0"/>
          </a:p>
          <a:p>
            <a:r>
              <a:rPr lang="en-US" sz="1050" b="1" u="sng" dirty="0"/>
              <a:t>In-Session Activities / Explanations:</a:t>
            </a:r>
            <a:endParaRPr lang="en-US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Time</a:t>
            </a:r>
            <a:r>
              <a:rPr lang="en-US" b="1" dirty="0"/>
              <a:t>: </a:t>
            </a:r>
            <a:r>
              <a:rPr lang="en-US" sz="1000" b="0" dirty="0"/>
              <a:t>5 min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050" b="1" dirty="0"/>
              <a:t>Instructor Notes: </a:t>
            </a:r>
            <a:endParaRPr lang="en-US" sz="1050" dirty="0"/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out the summary points mentioned on the slide.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Discuss the same with the participants.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 if they have any questions or doubts. 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end, ask the students to</a:t>
            </a:r>
            <a:r>
              <a:rPr lang="en-US" sz="1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complete </a:t>
            </a:r>
            <a:r>
              <a: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module quiz.</a:t>
            </a:r>
          </a:p>
          <a:p>
            <a:pPr marL="171450" lvl="0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050" b="1" dirty="0"/>
              <a:t>Key Points:</a:t>
            </a:r>
            <a:r>
              <a:rPr lang="en-US" sz="1100" b="1" dirty="0"/>
              <a:t>  </a:t>
            </a:r>
            <a:r>
              <a:rPr lang="en-US" sz="1100" b="0" dirty="0"/>
              <a:t>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2113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12.4.1– </a:t>
            </a:r>
            <a:r>
              <a:rPr lang="en-US" dirty="0"/>
              <a:t>What Did I Learn in this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1047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12.4.1– </a:t>
            </a:r>
            <a:r>
              <a:rPr lang="en-US" dirty="0"/>
              <a:t>What Did I Learn in this Module?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481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12.4 </a:t>
            </a:r>
            <a:r>
              <a:rPr lang="en-GB" dirty="0"/>
              <a:t>–</a:t>
            </a:r>
            <a:r>
              <a:rPr lang="en-IN" sz="1200" b="0" dirty="0">
                <a:solidFill>
                  <a:srgbClr val="FF0000"/>
                </a:solidFill>
              </a:rPr>
              <a:t> </a:t>
            </a:r>
            <a:r>
              <a:rPr lang="en-IN" dirty="0"/>
              <a:t>Network Security Infrastructure Summary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dirty="0"/>
              <a:t>12.4.1– </a:t>
            </a:r>
            <a:r>
              <a:rPr lang="en-US" dirty="0"/>
              <a:t>What Did I Learn in this Module?</a:t>
            </a:r>
          </a:p>
          <a:p>
            <a:r>
              <a:rPr lang="en-GB" dirty="0"/>
              <a:t>12.4.2</a:t>
            </a:r>
            <a:r>
              <a:rPr lang="en-GB" baseline="0" dirty="0"/>
              <a:t> </a:t>
            </a:r>
            <a:r>
              <a:rPr lang="en-GB" dirty="0"/>
              <a:t>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 12: Network Security Infrastructure Quiz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3523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47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12 –</a:t>
            </a:r>
            <a:r>
              <a:rPr lang="en-GB" dirty="0"/>
              <a:t> </a:t>
            </a:r>
            <a:r>
              <a:rPr lang="en-IN" dirty="0"/>
              <a:t>Network Security Infrastructure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37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2020 Cisco and/or its affiliates. All rights reserved.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2020 Cisco and/or its affiliates. All rights reserved.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0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1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751893"/>
            <a:ext cx="6672708" cy="64473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12: Network Security Infrastructure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6D781240-4B4A-4909-95BE-1BBBED592AB0}"/>
              </a:ext>
            </a:extLst>
          </p:cNvPr>
          <p:cNvSpPr txBox="1">
            <a:spLocks/>
          </p:cNvSpPr>
          <p:nvPr/>
        </p:nvSpPr>
        <p:spPr>
          <a:xfrm>
            <a:off x="469496" y="3502504"/>
            <a:ext cx="2368954" cy="902174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None/>
              <a:defRPr lang="en-US" sz="1200" b="0" i="0" kern="1200">
                <a:solidFill>
                  <a:schemeClr val="accent5"/>
                </a:solidFill>
                <a:latin typeface="+mn-lt"/>
                <a:ea typeface="ＭＳ Ｐゴシック" charset="0"/>
                <a:cs typeface="CiscoSans"/>
              </a:defRPr>
            </a:lvl1pPr>
            <a:lvl2pPr marL="342856" indent="0" algn="ctr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defRPr lang="en-US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2pPr>
            <a:lvl3pPr marL="685720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3pPr>
            <a:lvl4pPr marL="1028579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4pPr>
            <a:lvl5pPr marL="1371441" indent="0" algn="ctr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None/>
              <a:defRPr lang="en-US" sz="1100" kern="1200">
                <a:solidFill>
                  <a:schemeClr val="tx1">
                    <a:tint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5pPr>
            <a:lvl6pPr marL="1714297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9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161" indent="0" algn="ctr" defTabSz="685777" rtl="0" eaLnBrk="1" latinLnBrk="0" hangingPunct="1">
              <a:spcBef>
                <a:spcPts val="600"/>
              </a:spcBef>
              <a:buFont typeface="Arial" pitchFamily="34" charset="0"/>
              <a:buNone/>
              <a:defRPr sz="8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020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2882" indent="0" algn="ctr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CyberOps Associate v1.0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416944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sz="2400" dirty="0"/>
              <a:t>Module Objectives</a:t>
            </a:r>
          </a:p>
        </p:txBody>
      </p:sp>
      <p:sp>
        <p:nvSpPr>
          <p:cNvPr id="6147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31272" cy="827461"/>
          </a:xfrm>
        </p:spPr>
        <p:txBody>
          <a:bodyPr/>
          <a:lstStyle/>
          <a:p>
            <a:pPr marL="0" lvl="0" indent="0" defTabSz="91440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lang="en-US" altLang="en-US" sz="1600" dirty="0">
                <a:solidFill>
                  <a:schemeClr val="tx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Network Security Infrastructure</a:t>
            </a:r>
          </a:p>
          <a:p>
            <a:pPr marL="0" lvl="0" indent="0" defTabSz="91440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</a:endParaRPr>
          </a:p>
          <a:p>
            <a:pPr marL="0" lvl="0" indent="0" defTabSz="91440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lang="en-US" alt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Explain how devices and services are used to enhance network security.</a:t>
            </a:r>
          </a:p>
          <a:p>
            <a:pPr marL="89297" indent="0">
              <a:spcBef>
                <a:spcPct val="30000"/>
              </a:spcBef>
              <a:buNone/>
            </a:pPr>
            <a:endParaRPr lang="en-US" sz="16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52682"/>
              </p:ext>
            </p:extLst>
          </p:nvPr>
        </p:nvGraphicFramePr>
        <p:xfrm>
          <a:off x="232414" y="1741154"/>
          <a:ext cx="8298637" cy="15314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0483">
                  <a:extLst>
                    <a:ext uri="{9D8B030D-6E8A-4147-A177-3AD203B41FA5}">
                      <a16:colId xmlns:a16="http://schemas.microsoft.com/office/drawing/2014/main" val="399010295"/>
                    </a:ext>
                  </a:extLst>
                </a:gridCol>
                <a:gridCol w="6428154">
                  <a:extLst>
                    <a:ext uri="{9D8B030D-6E8A-4147-A177-3AD203B41FA5}">
                      <a16:colId xmlns:a16="http://schemas.microsoft.com/office/drawing/2014/main" val="3417728144"/>
                    </a:ext>
                  </a:extLst>
                </a:gridCol>
              </a:tblGrid>
              <a:tr h="3410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8" marR="60168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8" marR="60168" marT="0" marB="0" anchor="ctr"/>
                </a:tc>
                <a:extLst>
                  <a:ext uri="{0D108BD9-81ED-4DB2-BD59-A6C34878D82A}">
                    <a16:rowId xmlns:a16="http://schemas.microsoft.com/office/drawing/2014/main" val="364302898"/>
                  </a:ext>
                </a:extLst>
              </a:tr>
              <a:tr h="4013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Network Topologies</a:t>
                      </a: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how network designs influence the flow of traffic through the network.</a:t>
                      </a:r>
                      <a:endParaRPr lang="en-U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8" marR="60168" marT="0" marB="0"/>
                </a:tc>
                <a:extLst>
                  <a:ext uri="{0D108BD9-81ED-4DB2-BD59-A6C34878D82A}">
                    <a16:rowId xmlns:a16="http://schemas.microsoft.com/office/drawing/2014/main" val="3530891527"/>
                  </a:ext>
                </a:extLst>
              </a:tr>
              <a:tr h="40137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Security</a:t>
                      </a:r>
                      <a:r>
                        <a:rPr lang="en-US" sz="1100" b="1" baseline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Devices</a:t>
                      </a:r>
                      <a:endParaRPr lang="en-US" sz="11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how specialized devices are used to enhance network security.</a:t>
                      </a:r>
                      <a:endParaRPr lang="en-U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8" marR="60168" marT="0" marB="0"/>
                </a:tc>
                <a:extLst>
                  <a:ext uri="{0D108BD9-81ED-4DB2-BD59-A6C34878D82A}">
                    <a16:rowId xmlns:a16="http://schemas.microsoft.com/office/drawing/2014/main" val="662892947"/>
                  </a:ext>
                </a:extLst>
              </a:tr>
              <a:tr h="3875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Security Services</a:t>
                      </a:r>
                    </a:p>
                  </a:txBody>
                  <a:tcPr marL="60168" marR="6016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Explain how network services enhance network security.</a:t>
                      </a:r>
                      <a:endParaRPr lang="en-US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168" marR="60168" marT="0" marB="0"/>
                </a:tc>
                <a:extLst>
                  <a:ext uri="{0D108BD9-81ED-4DB2-BD59-A6C34878D82A}">
                    <a16:rowId xmlns:a16="http://schemas.microsoft.com/office/drawing/2014/main" val="128368636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54701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12.1 Network Topologies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364293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US" altLang="en-US" dirty="0"/>
              <a:t>Network Representations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7079" y="762732"/>
            <a:ext cx="4094264" cy="3516657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Network diagrams, often called topology diagrams, use symbols to represent different devices and connections within the network.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The important terminologies to be known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Network Interface Card (NIC)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Physical 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Interface</a:t>
            </a:r>
            <a:endParaRPr lang="en-IN" sz="1600" dirty="0"/>
          </a:p>
          <a:p>
            <a:pPr marL="0" indent="0">
              <a:lnSpc>
                <a:spcPct val="2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IN" sz="1600" b="1" i="1" dirty="0"/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IN" sz="1600" b="1" i="1" dirty="0"/>
              <a:t>Note</a:t>
            </a:r>
            <a:r>
              <a:rPr lang="en-IN" sz="1600" i="1" dirty="0"/>
              <a:t>: The terms port and interface are often used interchangeably.</a:t>
            </a:r>
            <a:endParaRPr lang="en-US" sz="1600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564" y="813684"/>
            <a:ext cx="4876800" cy="342401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967370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US" altLang="en-US" dirty="0"/>
              <a:t>Topology Diagrams</a:t>
            </a:r>
          </a:p>
        </p:txBody>
      </p:sp>
      <p:sp>
        <p:nvSpPr>
          <p:cNvPr id="13315" name="Content Placeholder 1"/>
          <p:cNvSpPr>
            <a:spLocks noGrp="1"/>
          </p:cNvSpPr>
          <p:nvPr>
            <p:ph idx="1"/>
          </p:nvPr>
        </p:nvSpPr>
        <p:spPr>
          <a:xfrm>
            <a:off x="211516" y="770550"/>
            <a:ext cx="4062002" cy="74046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Physical topology </a:t>
            </a:r>
            <a:r>
              <a:rPr lang="en-US" sz="1600" dirty="0"/>
              <a:t>diagrams illustrate the physical location of intermediary devices and cable installation.</a:t>
            </a:r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</p:txBody>
      </p:sp>
      <p:pic>
        <p:nvPicPr>
          <p:cNvPr id="819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4639" y="1663665"/>
            <a:ext cx="4248000" cy="267846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Content Placeholder 2"/>
          <p:cNvSpPr/>
          <p:nvPr/>
        </p:nvSpPr>
        <p:spPr>
          <a:xfrm>
            <a:off x="4836468" y="756244"/>
            <a:ext cx="44795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Logical topology </a:t>
            </a:r>
            <a:r>
              <a:rPr lang="en-US" sz="1600" dirty="0">
                <a:solidFill>
                  <a:srgbClr val="000000"/>
                </a:solidFill>
              </a:rPr>
              <a:t>diagrams illustrate devices, ports, and the addressing scheme of the network.</a:t>
            </a:r>
            <a:endParaRPr lang="en-CA" altLang="en-US" sz="1600" dirty="0">
              <a:solidFill>
                <a:srgbClr val="000000"/>
              </a:solidFill>
            </a:endParaRPr>
          </a:p>
        </p:txBody>
      </p:sp>
      <p:pic>
        <p:nvPicPr>
          <p:cNvPr id="819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8891" y="1614268"/>
            <a:ext cx="4142640" cy="272818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65696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IN" dirty="0"/>
              <a:t>Networks of Many Sizes</a:t>
            </a:r>
            <a:endParaRPr lang="en-US" altLang="en-US" dirty="0"/>
          </a:p>
        </p:txBody>
      </p:sp>
      <p:sp>
        <p:nvSpPr>
          <p:cNvPr id="14" name="Content Placeholder"/>
          <p:cNvSpPr txBox="1">
            <a:spLocks noChangeArrowheads="1"/>
          </p:cNvSpPr>
          <p:nvPr/>
        </p:nvSpPr>
        <p:spPr bwMode="auto">
          <a:xfrm>
            <a:off x="169841" y="775652"/>
            <a:ext cx="4238970" cy="3950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tx1">
                    <a:lumMod val="50000"/>
                  </a:schemeClr>
                </a:solidFill>
              </a:rPr>
              <a:t>Small Home Networks – connect a few computers to each other and the Internet.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tx1">
                    <a:lumMod val="50000"/>
                  </a:schemeClr>
                </a:solidFill>
              </a:rPr>
              <a:t>Small Office and Home Office (SOHO) – enables computer within a home, office or remote office to connect to a corporate network, </a:t>
            </a: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or access centralized, shared resources.</a:t>
            </a:r>
            <a:endParaRPr lang="en-IN" altLang="en-US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tx1">
                    <a:lumMod val="50000"/>
                  </a:schemeClr>
                </a:solidFill>
              </a:rPr>
              <a:t>Medium to Large Networks – can have many locations with hundreds or thousands of interconnected computers.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altLang="en-US" sz="1600" dirty="0">
                <a:solidFill>
                  <a:schemeClr val="tx1">
                    <a:lumMod val="50000"/>
                  </a:schemeClr>
                </a:solidFill>
              </a:rPr>
              <a:t>World Wide Networks – connects hundreds of millions of computers world-wide – such as the internet.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N" altLang="en-US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7" name="Picture 2" descr="this is the image’s alt tex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848" y="811869"/>
            <a:ext cx="2103105" cy="153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https://d1qjbjciwpxftb.cloudfront.net/courses/ccna1/networking-today/5_common-types-of-networks/assets/1_chunk/media--Small-Home-Office-Net--imag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53" y="811869"/>
            <a:ext cx="2090460" cy="153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15"/>
          <p:cNvSpPr txBox="1"/>
          <p:nvPr/>
        </p:nvSpPr>
        <p:spPr>
          <a:xfrm>
            <a:off x="4408811" y="2319809"/>
            <a:ext cx="4344344" cy="338554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      Small Home                     SOHO</a:t>
            </a:r>
          </a:p>
        </p:txBody>
      </p:sp>
      <p:pic>
        <p:nvPicPr>
          <p:cNvPr id="20" name="Picture 6" descr="this is the image’s alt tex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847" y="2753581"/>
            <a:ext cx="2103105" cy="16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52" y="2734406"/>
            <a:ext cx="2090461" cy="160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Content Placeholder 18"/>
          <p:cNvSpPr txBox="1"/>
          <p:nvPr/>
        </p:nvSpPr>
        <p:spPr>
          <a:xfrm>
            <a:off x="4458242" y="4321901"/>
            <a:ext cx="4168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      Medium/Large             World Wide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490411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Topologies</a:t>
            </a:r>
            <a:br>
              <a:rPr lang="en-US" altLang="en-US" dirty="0"/>
            </a:br>
            <a:r>
              <a:rPr lang="en-IN" dirty="0"/>
              <a:t>LANs and WANs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3821353" cy="361021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Network infrastructures vary greatly in terms of: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Size of the area covered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Number of users connected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Number and types of services available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Area of responsibility</a:t>
            </a:r>
            <a:endParaRPr lang="en-US" sz="1600" dirty="0">
              <a:solidFill>
                <a:schemeClr val="tx1">
                  <a:lumMod val="50000"/>
                </a:schemeClr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50000"/>
                  </a:schemeClr>
                </a:solidFill>
                <a:effectLst/>
              </a:rPr>
              <a:t>The two most common types of network infrastructures are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50000"/>
                  </a:schemeClr>
                </a:solidFill>
                <a:effectLst/>
              </a:rPr>
              <a:t>Local Area Networks (LANs)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50000"/>
                  </a:schemeClr>
                </a:solidFill>
                <a:effectLst/>
              </a:rPr>
              <a:t>Wide Area Networks (WANs)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818" y="895514"/>
            <a:ext cx="4804382" cy="3569736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Content Placeholder 2"/>
          <p:cNvSpPr txBox="1"/>
          <p:nvPr/>
        </p:nvSpPr>
        <p:spPr>
          <a:xfrm>
            <a:off x="3873138" y="4449587"/>
            <a:ext cx="512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LANs connected to a WAN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102327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Topologies</a:t>
            </a:r>
            <a:br>
              <a:rPr lang="en-US" altLang="en-US" dirty="0"/>
            </a:br>
            <a:r>
              <a:rPr lang="en-IN" dirty="0"/>
              <a:t>LANs and WANs (Contd.)</a:t>
            </a:r>
            <a:endParaRPr lang="en-US" altLang="en-US" dirty="0"/>
          </a:p>
        </p:txBody>
      </p:sp>
      <p:sp>
        <p:nvSpPr>
          <p:cNvPr id="13315" name="Content Placeholder 1"/>
          <p:cNvSpPr>
            <a:spLocks noGrp="1"/>
          </p:cNvSpPr>
          <p:nvPr>
            <p:ph idx="1"/>
          </p:nvPr>
        </p:nvSpPr>
        <p:spPr>
          <a:xfrm>
            <a:off x="166250" y="806762"/>
            <a:ext cx="4206579" cy="559699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A LAN is a network infrastructure that spans a small geographical area. </a:t>
            </a:r>
            <a:endParaRPr lang="en-CA" altLang="en-US" sz="1600" dirty="0"/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  <a:p>
            <a:pPr lvl="1"/>
            <a:endParaRPr lang="en-CA" altLang="en-US" sz="1600" dirty="0"/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721FF8D3-468A-4D55-ADC6-E3E7B72384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173" t="12281" r="17943" b="18133"/>
          <a:stretch/>
        </p:blipFill>
        <p:spPr>
          <a:xfrm>
            <a:off x="568726" y="1356932"/>
            <a:ext cx="2664000" cy="163149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Content Placeholder 2"/>
          <p:cNvSpPr/>
          <p:nvPr/>
        </p:nvSpPr>
        <p:spPr>
          <a:xfrm>
            <a:off x="4779206" y="788133"/>
            <a:ext cx="42322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A WAN is a network infrastructure that spans a wide geographical area.</a:t>
            </a:r>
            <a:endParaRPr lang="en-CA" altLang="en-US" sz="1500" dirty="0">
              <a:solidFill>
                <a:srgbClr val="000000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6"/>
          <a:stretch/>
        </p:blipFill>
        <p:spPr bwMode="auto">
          <a:xfrm>
            <a:off x="4920809" y="1360331"/>
            <a:ext cx="3922901" cy="158400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246869"/>
              </p:ext>
            </p:extLst>
          </p:nvPr>
        </p:nvGraphicFramePr>
        <p:xfrm>
          <a:off x="396580" y="3026638"/>
          <a:ext cx="8512030" cy="169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81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Interconnect end devices in a limited area.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Interconnect LANs over wide geographical areas.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81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Administered by a single organization or individual.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Typically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dministered by multiple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service 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81"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high-speed bandwidth to internal end devices</a:t>
                      </a:r>
                      <a:r>
                        <a:rPr lang="en-US" sz="14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intermediary devices.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Typically provide slower speed links between LANs.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78788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US" dirty="0"/>
              <a:t>The Three-Layer Network Design Model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1639" y="798944"/>
            <a:ext cx="4482254" cy="1061753"/>
          </a:xfrm>
        </p:spPr>
        <p:txBody>
          <a:bodyPr/>
          <a:lstStyle/>
          <a:p>
            <a:pPr marL="361950" indent="-180975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IN" sz="1600" dirty="0"/>
              <a:t>The campus wired LAN uses a hierarchical design model to separate the network topology into modular groups or layers.</a:t>
            </a:r>
          </a:p>
          <a:p>
            <a:pPr marL="361950" indent="-180975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The hierarchical LAN design includes three layers:</a:t>
            </a:r>
          </a:p>
          <a:p>
            <a:pPr marL="715963" indent="-2730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Access</a:t>
            </a:r>
            <a:r>
              <a:rPr lang="en-US" sz="1600" dirty="0"/>
              <a:t> - Provides endpoints and users direct access to the network.</a:t>
            </a:r>
          </a:p>
          <a:p>
            <a:pPr marL="715963" indent="-2730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Distribution</a:t>
            </a:r>
            <a:r>
              <a:rPr lang="en-US" sz="1600" dirty="0"/>
              <a:t> - Aggregates access layers and provides connectivity to services. </a:t>
            </a:r>
          </a:p>
          <a:p>
            <a:pPr marL="715963" indent="-2730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Core</a:t>
            </a:r>
            <a:r>
              <a:rPr lang="en-US" sz="1600" dirty="0"/>
              <a:t> - Provides connectivity between distribution layers for large LAN environments.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928" y="910803"/>
            <a:ext cx="4041854" cy="3500824"/>
          </a:xfrm>
          <a:prstGeom prst="rect">
            <a:avLst/>
          </a:prstGeom>
        </p:spPr>
      </p:pic>
      <p:sp>
        <p:nvSpPr>
          <p:cNvPr id="4" name="Content Placeholder 3"/>
          <p:cNvSpPr txBox="1"/>
          <p:nvPr/>
        </p:nvSpPr>
        <p:spPr>
          <a:xfrm>
            <a:off x="4820982" y="4418096"/>
            <a:ext cx="4041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Hierarchical Design Model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99257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US" dirty="0"/>
              <a:t>The Three-Layer Network Design Model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9745" y="798944"/>
            <a:ext cx="4289713" cy="1061753"/>
          </a:xfrm>
        </p:spPr>
        <p:txBody>
          <a:bodyPr/>
          <a:lstStyle/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IN" sz="1600" dirty="0"/>
              <a:t>Although the hierarchical model has three layers, some smaller enterprise networks may implement a two-tier hierarchical design.</a:t>
            </a:r>
          </a:p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In this </a:t>
            </a:r>
            <a:r>
              <a:rPr lang="en-IN" sz="1600" dirty="0"/>
              <a:t>two-tier hierarchical design</a:t>
            </a:r>
            <a:r>
              <a:rPr lang="en-US" sz="1600" dirty="0"/>
              <a:t>, the core and distribution layers are collapsed into one layer, thus reducing cost and complexity.</a:t>
            </a:r>
          </a:p>
        </p:txBody>
      </p:sp>
      <p:sp>
        <p:nvSpPr>
          <p:cNvPr id="5" name="Content Placeholder 4"/>
          <p:cNvSpPr txBox="1"/>
          <p:nvPr/>
        </p:nvSpPr>
        <p:spPr>
          <a:xfrm>
            <a:off x="4433776" y="4273248"/>
            <a:ext cx="4429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Collapsed Core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" t="1930" r="1994" b="3636"/>
          <a:stretch/>
        </p:blipFill>
        <p:spPr>
          <a:xfrm>
            <a:off x="4362836" y="849856"/>
            <a:ext cx="4500000" cy="33944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010565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IN" dirty="0"/>
              <a:t>Video - Three-Layer Network Design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9328" y="798944"/>
            <a:ext cx="8521472" cy="519493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/>
              <a:t>Play the video to view a demonstration of the three-layer network design model.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493" y="1233373"/>
            <a:ext cx="5652000" cy="32843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018368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IN" dirty="0"/>
              <a:t>Common Security Architectures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69" y="798944"/>
            <a:ext cx="8800753" cy="3284541"/>
          </a:xfrm>
        </p:spPr>
        <p:txBody>
          <a:bodyPr/>
          <a:lstStyle/>
          <a:p>
            <a:pPr marL="180975" indent="0">
              <a:spcBef>
                <a:spcPts val="300"/>
              </a:spcBef>
              <a:spcAft>
                <a:spcPts val="300"/>
              </a:spcAft>
              <a:buClrTx/>
              <a:buNone/>
            </a:pPr>
            <a:r>
              <a:rPr lang="en-US" sz="1600" dirty="0"/>
              <a:t>Firewall design is primarily about device interfaces permitting or denying traffic based on the source, the destination, and the type of traffic. </a:t>
            </a:r>
          </a:p>
          <a:p>
            <a:pPr marL="180975" indent="0">
              <a:spcBef>
                <a:spcPts val="300"/>
              </a:spcBef>
              <a:spcAft>
                <a:spcPts val="300"/>
              </a:spcAft>
              <a:buClrTx/>
              <a:buNone/>
            </a:pPr>
            <a:r>
              <a:rPr lang="en-US" sz="1600" dirty="0"/>
              <a:t>The three firewall designs are:</a:t>
            </a:r>
          </a:p>
          <a:p>
            <a:pPr marL="542925" indent="-2857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Public and Private</a:t>
            </a:r>
            <a:endParaRPr lang="en-US" sz="1600" dirty="0"/>
          </a:p>
          <a:p>
            <a:pPr marL="828675" indent="-2857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The public network (or outside network) is untrusted, and the private network (or inside network) is trusted.</a:t>
            </a:r>
          </a:p>
          <a:p>
            <a:pPr marL="180975" indent="0">
              <a:spcBef>
                <a:spcPts val="300"/>
              </a:spcBef>
              <a:spcAft>
                <a:spcPts val="300"/>
              </a:spcAft>
              <a:buClrTx/>
              <a:buNone/>
            </a:pPr>
            <a:endParaRPr lang="en-US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200" y="2670637"/>
            <a:ext cx="5904000" cy="201582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987415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IN" dirty="0"/>
              <a:t>Common Security Architectures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322" y="798944"/>
            <a:ext cx="3659037" cy="2382667"/>
          </a:xfrm>
        </p:spPr>
        <p:txBody>
          <a:bodyPr/>
          <a:lstStyle/>
          <a:p>
            <a:pPr marL="466725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Demilitarized Zone (DMZ)</a:t>
            </a:r>
            <a:endParaRPr lang="en-US" sz="1600" dirty="0"/>
          </a:p>
          <a:p>
            <a:pPr marL="715963" indent="-2730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A firewall design where there is typically one:</a:t>
            </a:r>
          </a:p>
          <a:p>
            <a:pPr marL="985838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Inside interface connected to the private network</a:t>
            </a:r>
          </a:p>
          <a:p>
            <a:pPr marL="985838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Outside interface connected to the public network</a:t>
            </a:r>
          </a:p>
          <a:p>
            <a:pPr marL="985838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DMZ interface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76359" y="879234"/>
            <a:ext cx="5256000" cy="366054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171447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IN" dirty="0"/>
              <a:t>Common Security Architectures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376" y="798944"/>
            <a:ext cx="4418876" cy="1061753"/>
          </a:xfrm>
        </p:spPr>
        <p:txBody>
          <a:bodyPr/>
          <a:lstStyle/>
          <a:p>
            <a:pPr marL="466725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IN" sz="1600" b="1" dirty="0"/>
              <a:t>Zone-based Policy Firewalls (ZPFs)</a:t>
            </a:r>
            <a:endParaRPr lang="en-US" sz="1600" dirty="0"/>
          </a:p>
          <a:p>
            <a:pPr marL="731838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ZPFs use the concept of zones to provide additional flexibility. </a:t>
            </a:r>
          </a:p>
          <a:p>
            <a:pPr marL="731838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A zone is a group of one or more interfaces that have similar functions or features. </a:t>
            </a:r>
          </a:p>
          <a:p>
            <a:pPr marL="731838" indent="-285750"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Zones help to specify where a Cisco IOS firewall rule or policy should be applied.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43375" y="909676"/>
            <a:ext cx="4644000" cy="338168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530516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</a:t>
            </a:r>
            <a:br>
              <a:rPr lang="en-US" altLang="en-US" dirty="0"/>
            </a:br>
            <a:r>
              <a:rPr lang="en-US" dirty="0"/>
              <a:t>Packet Tracer - Identify Packet Flow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4"/>
            <a:ext cx="8342711" cy="1061753"/>
          </a:xfrm>
        </p:spPr>
        <p:txBody>
          <a:bodyPr/>
          <a:lstStyle/>
          <a:p>
            <a:pPr marL="180975" indent="0">
              <a:buClrTx/>
              <a:buNone/>
            </a:pPr>
            <a:r>
              <a:rPr lang="en-US" sz="1600" dirty="0"/>
              <a:t>In this Packet Tracer activity, you will observe the following:</a:t>
            </a:r>
          </a:p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Packet flow in a LAN and WAN topology. </a:t>
            </a:r>
          </a:p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Change in the packet flow path when there is a change in the network topology.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38907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12.2 Security Devices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3631301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Video - Security Devices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68" y="798945"/>
            <a:ext cx="8342711" cy="374947"/>
          </a:xfrm>
        </p:spPr>
        <p:txBody>
          <a:bodyPr/>
          <a:lstStyle/>
          <a:p>
            <a:pPr marL="180975" indent="0">
              <a:buClrTx/>
              <a:buNone/>
            </a:pPr>
            <a:r>
              <a:rPr lang="en-US" sz="1600" b="0" i="0" dirty="0">
                <a:effectLst/>
              </a:rPr>
              <a:t>Play the video to learn more on </a:t>
            </a:r>
            <a:r>
              <a:rPr lang="en-US" sz="1600" dirty="0"/>
              <a:t>security </a:t>
            </a:r>
            <a:r>
              <a:rPr lang="en-US" sz="1600" b="0" i="0" dirty="0">
                <a:effectLst/>
              </a:rPr>
              <a:t>services.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" t="2359" r="1176" b="2616"/>
          <a:stretch/>
        </p:blipFill>
        <p:spPr>
          <a:xfrm>
            <a:off x="1696453" y="1173892"/>
            <a:ext cx="5763126" cy="326955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744623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54313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8890" y="798945"/>
            <a:ext cx="4237017" cy="1250919"/>
          </a:xfrm>
        </p:spPr>
        <p:txBody>
          <a:bodyPr/>
          <a:lstStyle/>
          <a:p>
            <a:pPr marL="180975" indent="0">
              <a:buClrTx/>
              <a:buNone/>
            </a:pPr>
            <a:r>
              <a:rPr lang="en-US" sz="1600" dirty="0"/>
              <a:t>A firewall is a system, or group of systems, that enforces an access control policy between networks.</a:t>
            </a:r>
          </a:p>
          <a:p>
            <a:pPr marL="180975" indent="0">
              <a:buClrTx/>
              <a:buNone/>
            </a:pPr>
            <a:r>
              <a:rPr lang="en-US" sz="1600" b="1" dirty="0"/>
              <a:t>Common Firewall Properties</a:t>
            </a:r>
            <a:r>
              <a:rPr lang="en-US" sz="1600" dirty="0"/>
              <a:t>: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US" sz="1600" dirty="0"/>
              <a:t>Resistant to network attacks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US" sz="1600" dirty="0"/>
              <a:t>The only transit point between internal corporate networks and external networks because all traffic flows through the firewall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US" sz="1600" dirty="0"/>
              <a:t>Enforce the access control policy</a:t>
            </a:r>
          </a:p>
          <a:p>
            <a:pPr marL="180975" indent="0">
              <a:buClrTx/>
              <a:buNone/>
            </a:pPr>
            <a:endParaRPr lang="en-US" sz="1600" dirty="0"/>
          </a:p>
        </p:txBody>
      </p:sp>
      <p:sp>
        <p:nvSpPr>
          <p:cNvPr id="3" name="Content Placeholder 2"/>
          <p:cNvSpPr txBox="1"/>
          <p:nvPr/>
        </p:nvSpPr>
        <p:spPr>
          <a:xfrm>
            <a:off x="4198193" y="793758"/>
            <a:ext cx="4954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Play the animation in the figure to view a firewall in operation.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675" y="1326828"/>
            <a:ext cx="4641726" cy="34210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580534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Firewalls (Contd.)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396113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/>
              <a:t>Following are the benefits and limitations of firewalls: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6454" y="1273086"/>
          <a:ext cx="8591744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4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Firewall Benefits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Firewall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Prevent the exposure of sensitive hosts, resources, and applications to untrusted users.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A misconfigured firewall can have serious consequences for the network, such as becoming a single point of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Sanitize protocol flow, which prevents the exploitation of protocol flaws.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The data from many applications cannot be passed over firewalls securely.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Block malicious data from servers and clients.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Users might proactively search for ways around the firewall to receive blocked material, which exposes the network to potential attack.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Reduce security management complexity.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Network performance can slow down.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Unauthorized traffic can be tunnelled or hidden as legitimate traffic through the firewall.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3236871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5"/>
            <a:ext cx="4032831" cy="347243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different types of firewalls are:</a:t>
            </a:r>
          </a:p>
          <a:p>
            <a:pPr marL="271463">
              <a:buFont typeface="Arial" panose="020B0604020202020204" pitchFamily="34" charset="0"/>
              <a:buChar char="•"/>
            </a:pPr>
            <a:r>
              <a:rPr lang="en-US" sz="1600" b="1" dirty="0"/>
              <a:t>Packet Filtering (Stateless) Firewall</a:t>
            </a:r>
            <a:endParaRPr lang="en-US" sz="1600" dirty="0"/>
          </a:p>
          <a:p>
            <a:pPr marL="452438">
              <a:buFont typeface="Arial" panose="020B0604020202020204" pitchFamily="34" charset="0"/>
              <a:buChar char="•"/>
            </a:pPr>
            <a:r>
              <a:rPr lang="en-US" sz="1600" dirty="0"/>
              <a:t>Packet Filtering firewalls are part of a router firewall, which permits or denies traffic based on Layer 3 and Layer 4 information. </a:t>
            </a:r>
          </a:p>
          <a:p>
            <a:pPr marL="452438">
              <a:buFont typeface="Arial" panose="020B0604020202020204" pitchFamily="34" charset="0"/>
              <a:buChar char="•"/>
            </a:pPr>
            <a:r>
              <a:rPr lang="en-US" sz="1600" dirty="0"/>
              <a:t>They are stateless firewalls that use a simple policy table look-up that filters traffic based on specific criteria.</a:t>
            </a:r>
          </a:p>
          <a:p>
            <a:pPr marL="180975" indent="0">
              <a:buClrTx/>
              <a:buNone/>
            </a:pPr>
            <a:endParaRPr lang="en-US" sz="1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5" t="6502"/>
          <a:stretch/>
        </p:blipFill>
        <p:spPr bwMode="auto">
          <a:xfrm>
            <a:off x="4204164" y="980845"/>
            <a:ext cx="4755308" cy="333928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195160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853" y="844210"/>
            <a:ext cx="4658804" cy="3691574"/>
          </a:xfrm>
        </p:spPr>
        <p:txBody>
          <a:bodyPr/>
          <a:lstStyle/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Stateful Firewalls</a:t>
            </a:r>
          </a:p>
          <a:p>
            <a:pPr marL="806450" indent="-2730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Stateful firewalls are the most versatile and the most common firewall technologies in use.</a:t>
            </a:r>
          </a:p>
          <a:p>
            <a:pPr marL="806450" indent="-2730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These firewalls provide stateful packet filtering by using connection information maintained in a state table.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657" y="942624"/>
            <a:ext cx="3811508" cy="369121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056536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862316"/>
            <a:ext cx="4395876" cy="3707973"/>
          </a:xfrm>
        </p:spPr>
        <p:txBody>
          <a:bodyPr/>
          <a:lstStyle/>
          <a:p>
            <a:pPr marL="466725" indent="-285750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Application gateway firewall (proxy firewall)</a:t>
            </a:r>
          </a:p>
          <a:p>
            <a:pPr marL="712788" indent="-2857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Application gateway firewall filters information at Layers 3, 4, 5, and 7 of the OSI reference model.</a:t>
            </a:r>
          </a:p>
          <a:p>
            <a:pPr marL="712788" indent="-285750">
              <a:buClrTx/>
              <a:buFont typeface="Arial" panose="020B0604020202020204" pitchFamily="34" charset="0"/>
              <a:buChar char="•"/>
            </a:pPr>
            <a:r>
              <a:rPr lang="en-US" sz="1600" dirty="0"/>
              <a:t>Most of the firewall control and filtering is done in the software.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41" y="1034930"/>
            <a:ext cx="4138094" cy="32003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823255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6" y="798945"/>
            <a:ext cx="4197834" cy="351050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Next-generation firewalls (NGFW)</a:t>
            </a:r>
          </a:p>
          <a:p>
            <a:pPr marL="361950">
              <a:buFont typeface="Arial" panose="020B0604020202020204" pitchFamily="34" charset="0"/>
              <a:buChar char="•"/>
            </a:pPr>
            <a:r>
              <a:rPr lang="en-IN" sz="1600" dirty="0"/>
              <a:t>NGFW go beyond stateful firewalls by providing: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Integrated intrusion prevention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Application awareness and control to see and block risky apps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Upgrade paths to include future information feeds</a:t>
            </a:r>
          </a:p>
          <a:p>
            <a:pPr marL="622300" indent="-285750">
              <a:buFont typeface="Arial" panose="020B0604020202020204" pitchFamily="34" charset="0"/>
              <a:buChar char="•"/>
            </a:pPr>
            <a:r>
              <a:rPr lang="en-US" sz="1600" dirty="0"/>
              <a:t>Techniques to address evolving security threats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6332" t="14654" r="5651" b="16630"/>
          <a:stretch/>
        </p:blipFill>
        <p:spPr>
          <a:xfrm>
            <a:off x="4341900" y="1101821"/>
            <a:ext cx="4684804" cy="29398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9176111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Firewall Type Descriptions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5"/>
            <a:ext cx="8759304" cy="1808453"/>
          </a:xfrm>
        </p:spPr>
        <p:txBody>
          <a:bodyPr/>
          <a:lstStyle/>
          <a:p>
            <a:pPr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600" dirty="0"/>
              <a:t>Other methods of implementing firewalls include: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Host-based (server and personal) firewall</a:t>
            </a:r>
            <a:r>
              <a:rPr lang="en-US" sz="1600" dirty="0"/>
              <a:t> - A PC or server with firewall software running on it.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Transparent firewall</a:t>
            </a:r>
            <a:r>
              <a:rPr lang="en-US" sz="1600" dirty="0"/>
              <a:t> - Filters IP traffic between a pair of bridged interfaces.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1600" b="1" dirty="0"/>
              <a:t>Hybrid firewall</a:t>
            </a:r>
            <a:r>
              <a:rPr lang="en-US" sz="1600" dirty="0"/>
              <a:t> - A combination of various firewall types.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0573871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Intrusion Prevention and Detection Devices</a:t>
            </a:r>
            <a:endParaRPr lang="en-US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8"/>
          <a:stretch/>
        </p:blipFill>
        <p:spPr bwMode="auto">
          <a:xfrm>
            <a:off x="3868094" y="904603"/>
            <a:ext cx="5047284" cy="3819402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44064" y="767949"/>
            <a:ext cx="3724029" cy="1250919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A networking architecture paradigm shift is required to defend against fast-moving and evolving attacks. This </a:t>
            </a:r>
            <a:r>
              <a:rPr lang="en-US" sz="1600" dirty="0"/>
              <a:t>must include cost effective and prevention systems such as:</a:t>
            </a:r>
          </a:p>
          <a:p>
            <a:pPr marL="452438" indent="-2603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Intrusion Detection Systems (IDS) </a:t>
            </a:r>
          </a:p>
          <a:p>
            <a:pPr marL="452438" indent="-2603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Intrusion Prevention Systems (IPS)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network architecture integrates these solutions into the entry and exit points of the network.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The figure shows how an IPS device handles malicious traffic.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175355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US" dirty="0"/>
              <a:t>Advantages and Disadvantages of IDS and IPS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71786"/>
            <a:ext cx="7995101" cy="4671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table lists the advantages and disadvantages of IDS and IPS: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001175"/>
              </p:ext>
            </p:extLst>
          </p:nvPr>
        </p:nvGraphicFramePr>
        <p:xfrm>
          <a:off x="289710" y="1160481"/>
          <a:ext cx="8718487" cy="226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3241">
                <a:tc>
                  <a:txBody>
                    <a:bodyPr/>
                    <a:lstStyle/>
                    <a:p>
                      <a:r>
                        <a:rPr lang="en-IN" dirty="0"/>
                        <a:t>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Impact on network (latency, jitter)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Network impact if there is a sensor failure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network impact if there is sensor overload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 action cannot stop trigger packets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Correct tuning required for response actions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 vulnerable to network security evasion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Stops trigger packets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Can use stream normalization techniques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Sensor issues might affect network traffic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Sensor overloading impacts the network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Some impact on network (latency, jitter)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96464" y="3468214"/>
            <a:ext cx="8720787" cy="467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None/>
            </a:pPr>
            <a:r>
              <a:rPr lang="en-IN" sz="1600" b="1" dirty="0"/>
              <a:t>Deployment Consideration</a:t>
            </a:r>
            <a:r>
              <a:rPr lang="en-IN" sz="1600" dirty="0"/>
              <a:t>:</a:t>
            </a:r>
          </a:p>
          <a:p>
            <a:pPr marL="2714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IPS and IDS technologies can complement each other.</a:t>
            </a:r>
          </a:p>
          <a:p>
            <a:pPr marL="2714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Deciding which implementation to use is based on the security goals of the organization as stated in their network security policy.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221780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Types of IPS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5"/>
            <a:ext cx="8918455" cy="4671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There are two primary kinds of IPS : </a:t>
            </a:r>
          </a:p>
          <a:p>
            <a:pPr lvl="1"/>
            <a:r>
              <a:rPr lang="en-US" sz="1600" dirty="0"/>
              <a:t>Host-based IPS </a:t>
            </a:r>
          </a:p>
          <a:p>
            <a:pPr lvl="1"/>
            <a:r>
              <a:rPr lang="en-US" sz="1600" dirty="0"/>
              <a:t>Network-based 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Host-based IPS (HIPS)</a:t>
            </a:r>
          </a:p>
          <a:p>
            <a:pPr marL="180975" indent="0">
              <a:buNone/>
            </a:pPr>
            <a:r>
              <a:rPr lang="en-US" sz="1600" dirty="0"/>
              <a:t>HIPS is a software installed on a host to monitor and analyze suspicious activity.</a:t>
            </a:r>
          </a:p>
          <a:p>
            <a:pPr marL="0" indent="0">
              <a:buNone/>
            </a:pPr>
            <a:r>
              <a:rPr lang="en-US" sz="1600" dirty="0"/>
              <a:t> 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696171"/>
              </p:ext>
            </p:extLst>
          </p:nvPr>
        </p:nvGraphicFramePr>
        <p:xfrm>
          <a:off x="434567" y="2693984"/>
          <a:ext cx="8320134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6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Advantages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protection specific to a host operating system</a:t>
                      </a:r>
                    </a:p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Provides operating system and application level protection</a:t>
                      </a:r>
                    </a:p>
                    <a:p>
                      <a:pPr marL="285750" indent="-28575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Protects the host after the message is decrypted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 system dependent</a:t>
                      </a:r>
                    </a:p>
                    <a:p>
                      <a:pPr marL="285750" indent="-285750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Must be installed on all hosts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02123884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Types of IPS (Contd.)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5"/>
            <a:ext cx="3757979" cy="298992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Network-based IPS</a:t>
            </a:r>
            <a:r>
              <a:rPr lang="en-US" sz="1600" dirty="0"/>
              <a:t> </a:t>
            </a:r>
          </a:p>
          <a:p>
            <a:pPr marL="557213" indent="-285750">
              <a:buFont typeface="Arial" panose="020B0604020202020204" pitchFamily="34" charset="0"/>
              <a:buChar char="•"/>
            </a:pPr>
            <a:r>
              <a:rPr lang="en-US" sz="1600" dirty="0"/>
              <a:t>Network-based IPS are Implemented using a dedicated or non-dedicated IPS device. </a:t>
            </a:r>
          </a:p>
          <a:p>
            <a:pPr marL="557213" indent="-285750">
              <a:buFont typeface="Arial" panose="020B0604020202020204" pitchFamily="34" charset="0"/>
              <a:buChar char="•"/>
            </a:pPr>
            <a:r>
              <a:rPr lang="en-IN" sz="1600" dirty="0"/>
              <a:t>Host-based IDS/IPS solutions are integrated with a network-based IPS implementation to ensure a robust security architecture.</a:t>
            </a:r>
            <a:endParaRPr lang="en-US" sz="1600" dirty="0"/>
          </a:p>
          <a:p>
            <a:pPr marL="557213" indent="-285750">
              <a:buFont typeface="Arial" panose="020B0604020202020204" pitchFamily="34" charset="0"/>
              <a:buChar char="•"/>
            </a:pPr>
            <a:r>
              <a:rPr lang="en-US" sz="1600" dirty="0"/>
              <a:t>Sensors detect malicious and unauthorized activity in real time and can take action when required.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5" t="3249" r="5002" b="4573"/>
          <a:stretch/>
        </p:blipFill>
        <p:spPr>
          <a:xfrm>
            <a:off x="3828422" y="1125416"/>
            <a:ext cx="5112000" cy="294474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5066676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Devices</a:t>
            </a:r>
            <a:br>
              <a:rPr lang="en-US" altLang="en-US" dirty="0"/>
            </a:br>
            <a:r>
              <a:rPr lang="en-IN" dirty="0"/>
              <a:t>Specialized Security Appliances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62170" y="798945"/>
            <a:ext cx="8186020" cy="138154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Few examples of specialized security appliances.</a:t>
            </a:r>
          </a:p>
          <a:p>
            <a:pPr marL="0" indent="0">
              <a:buNone/>
            </a:pPr>
            <a:endParaRPr lang="en-US" sz="16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683853"/>
              </p:ext>
            </p:extLst>
          </p:nvPr>
        </p:nvGraphicFramePr>
        <p:xfrm>
          <a:off x="235394" y="1182555"/>
          <a:ext cx="8772803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6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Cisco Advanced Malware Protection (</a:t>
                      </a:r>
                      <a:r>
                        <a:rPr lang="en-US" sz="1400" b="1" dirty="0"/>
                        <a:t>AMP)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Cisco Web Security Appliance (WSA)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Cisco Email Security Appliance (ESA)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enterprise-class advanced malware analysis and protection solution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secure web gateway that combines leading protections to help organizations address the growing challenges of securing and controlling web traffic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ESA/</a:t>
                      </a: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 Cloud Email Security </a:t>
                      </a:r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elps to mitigate</a:t>
                      </a:r>
                      <a:r>
                        <a:rPr lang="en-IN" baseline="0" dirty="0">
                          <a:solidFill>
                            <a:srgbClr val="58585B"/>
                          </a:solidFill>
                        </a:rPr>
                        <a:t> </a:t>
                      </a:r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email-based threats</a:t>
                      </a:r>
                      <a:r>
                        <a:rPr lang="en-IN" sz="1400" b="0" i="0" kern="1200" baseline="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the ESA defends </a:t>
                      </a:r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mission-critical email systems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provides comprehensive malware protection for organizations before, during, and after an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Protects the network by automatically blocking risky sites and testing unknown sites before allowing users to access them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kern="1200" dirty="0">
                          <a:solidFill>
                            <a:srgbClr val="58585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Constantly updated by real-time feeds from Cisco Talos, which detects and correlates threats using a worldwide database monitoring system</a:t>
                      </a:r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solidFill>
                          <a:srgbClr val="58585B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58585B"/>
                          </a:solidFill>
                        </a:rPr>
                        <a:t>Features</a:t>
                      </a:r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:</a:t>
                      </a:r>
                      <a:r>
                        <a:rPr lang="en-IN" baseline="0" dirty="0">
                          <a:solidFill>
                            <a:srgbClr val="58585B"/>
                          </a:solidFill>
                        </a:rPr>
                        <a:t> </a:t>
                      </a:r>
                      <a:r>
                        <a:rPr lang="en-IN" dirty="0">
                          <a:solidFill>
                            <a:srgbClr val="58585B"/>
                          </a:solidFill>
                        </a:rPr>
                        <a:t>Global threat intelligence, Spam blocking, Advanced Malware Protection, Outbound Message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7516268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12.3 Security Services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96484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Video - Security Services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6"/>
            <a:ext cx="8005148" cy="658066"/>
          </a:xfrm>
        </p:spPr>
        <p:txBody>
          <a:bodyPr/>
          <a:lstStyle/>
          <a:p>
            <a:pPr marL="101600" indent="0">
              <a:buNone/>
            </a:pPr>
            <a:r>
              <a:rPr lang="en-IN" sz="1600" dirty="0"/>
              <a:t>Watch the video to learn more on different security services.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597" y="1250769"/>
            <a:ext cx="5772292" cy="33512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5594379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Traffic Control with ACLs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1641" y="798946"/>
            <a:ext cx="8918454" cy="658066"/>
          </a:xfrm>
        </p:spPr>
        <p:txBody>
          <a:bodyPr/>
          <a:lstStyle/>
          <a:p>
            <a:pPr marL="271463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An Access Control List (ACL) is a series of commands that control whether a device forwards or drops packets based on information found in the packet header. </a:t>
            </a:r>
          </a:p>
        </p:txBody>
      </p:sp>
      <p:sp>
        <p:nvSpPr>
          <p:cNvPr id="3" name="Content Placeholder 2"/>
          <p:cNvSpPr txBox="1"/>
          <p:nvPr/>
        </p:nvSpPr>
        <p:spPr>
          <a:xfrm>
            <a:off x="72439" y="1367091"/>
            <a:ext cx="4390919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1463" indent="-169863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When configured, ACLs perform the following tasks: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Limit network traffic to increase network performance.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traffic flow control. 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basic level of security for network access. 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Filter traffic based on traffic type.</a:t>
            </a:r>
          </a:p>
          <a:p>
            <a:pPr marL="533400" indent="-261938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Screen hosts to permit or deny access to network services.</a:t>
            </a:r>
          </a:p>
          <a:p>
            <a:endParaRPr lang="en-IN" sz="1600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" t="4209" r="6142" b="5270"/>
          <a:stretch/>
        </p:blipFill>
        <p:spPr>
          <a:xfrm>
            <a:off x="4805973" y="1437219"/>
            <a:ext cx="4076170" cy="2809424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7" name="Content Placeholder 1"/>
          <p:cNvSpPr/>
          <p:nvPr/>
        </p:nvSpPr>
        <p:spPr>
          <a:xfrm>
            <a:off x="4805973" y="4329799"/>
            <a:ext cx="4076170" cy="35308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Sample Topology with ACLs applied to routers R1, R2, and R3.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7824096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ACLs: Important Features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6"/>
            <a:ext cx="8927508" cy="3664412"/>
          </a:xfrm>
        </p:spPr>
        <p:txBody>
          <a:bodyPr/>
          <a:lstStyle/>
          <a:p>
            <a:pPr marL="101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00" dirty="0"/>
              <a:t>The two types of Cisco IPv4 ACLs are:</a:t>
            </a:r>
          </a:p>
          <a:p>
            <a:pPr marL="4508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Standard ACL </a:t>
            </a:r>
            <a:r>
              <a:rPr lang="en-US" sz="1600" dirty="0"/>
              <a:t>- Used to permit or deny traffic only from source IPv4 addresses. </a:t>
            </a:r>
          </a:p>
          <a:p>
            <a:pPr marL="4508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Extended ACL </a:t>
            </a:r>
            <a:r>
              <a:rPr lang="en-US" sz="1600" dirty="0"/>
              <a:t>- </a:t>
            </a:r>
            <a:r>
              <a:rPr lang="en-IN" sz="1600" dirty="0"/>
              <a:t>Filters IPv4 packets based on several attributes that include: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Protocol type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Source IPv4 address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Destination IPv4 address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Source TCP or UDP ports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Destination TCP or UDP ports</a:t>
            </a:r>
          </a:p>
          <a:p>
            <a:pPr marL="714375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Optional protocol type information for finer control</a:t>
            </a:r>
          </a:p>
          <a:p>
            <a:pPr marL="3873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Standard and extended ACLs can be created using either a number or a name to identify the ACL and its list of statements.</a:t>
            </a:r>
          </a:p>
          <a:p>
            <a:pPr marL="3873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386288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Packet Tracer - ACL Demonstration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6"/>
            <a:ext cx="8855871" cy="2690212"/>
          </a:xfrm>
        </p:spPr>
        <p:txBody>
          <a:bodyPr/>
          <a:lstStyle/>
          <a:p>
            <a:pPr marL="101600" indent="0">
              <a:buNone/>
            </a:pPr>
            <a:r>
              <a:rPr lang="en-US" sz="1800" dirty="0"/>
              <a:t>In this activity, you will observe the following:</a:t>
            </a:r>
          </a:p>
          <a:p>
            <a:pPr marL="625475" indent="-198438">
              <a:buFont typeface="Arial" panose="020B0604020202020204" pitchFamily="34" charset="0"/>
              <a:buChar char="•"/>
            </a:pPr>
            <a:r>
              <a:rPr lang="en-US" sz="1800" dirty="0"/>
              <a:t>How an ACL can be used to prevent a ping from reaching hosts on remote networks. </a:t>
            </a:r>
          </a:p>
          <a:p>
            <a:pPr marL="625475" indent="-198438">
              <a:buFont typeface="Arial" panose="020B0604020202020204" pitchFamily="34" charset="0"/>
              <a:buChar char="•"/>
            </a:pPr>
            <a:r>
              <a:rPr lang="en-US" sz="1800" dirty="0"/>
              <a:t>After removing the ACL from the configuration, the pings will be successful.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1035422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SNMP</a:t>
            </a:r>
            <a:endParaRPr lang="en-US" altLang="en-US" dirty="0"/>
          </a:p>
        </p:txBody>
      </p:sp>
      <p:sp>
        <p:nvSpPr>
          <p:cNvPr id="4" name="Content Placeholder 1"/>
          <p:cNvSpPr/>
          <p:nvPr/>
        </p:nvSpPr>
        <p:spPr>
          <a:xfrm>
            <a:off x="226340" y="751437"/>
            <a:ext cx="8857502" cy="69711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Simple Network Management Protocol (SNMP) is an application layer protocol that provides a message format for communication between managers and agents.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35010" y="1394235"/>
            <a:ext cx="5659207" cy="1792585"/>
          </a:xfrm>
        </p:spPr>
        <p:txBody>
          <a:bodyPr/>
          <a:lstStyle/>
          <a:p>
            <a:pPr marL="2714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It allows network administrators to perform the following: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Manage end devices such as servers, workstations, routers, switches, and security appliances, on an IP network.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Monitor and manage network performance.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Find and solve network problems.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Plan for network growth.</a:t>
            </a:r>
          </a:p>
          <a:p>
            <a:pPr marL="271463" indent="-180975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SNMP system consists of two elements: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SNMP manager</a:t>
            </a:r>
            <a:r>
              <a:rPr lang="en-US" sz="1600" dirty="0"/>
              <a:t>: Runs SNMP management software.</a:t>
            </a:r>
          </a:p>
          <a:p>
            <a:pPr marL="53340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SNMP agents</a:t>
            </a:r>
            <a:r>
              <a:rPr lang="en-US" sz="1600" dirty="0"/>
              <a:t>: Nodes being monitored and managed.</a:t>
            </a:r>
          </a:p>
          <a:p>
            <a:pPr marL="90488" indent="3365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9" t="3000" r="22699" b="4246"/>
          <a:stretch/>
        </p:blipFill>
        <p:spPr>
          <a:xfrm>
            <a:off x="5600172" y="1516278"/>
            <a:ext cx="3455158" cy="2767744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1805028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NetFlow</a:t>
            </a:r>
            <a:endParaRPr lang="en-US" altLang="en-US" dirty="0"/>
          </a:p>
        </p:txBody>
      </p:sp>
      <p:sp>
        <p:nvSpPr>
          <p:cNvPr id="5" name="Content Placeholder 1"/>
          <p:cNvSpPr txBox="1"/>
          <p:nvPr/>
        </p:nvSpPr>
        <p:spPr>
          <a:xfrm>
            <a:off x="171224" y="739444"/>
            <a:ext cx="8710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NetFlow is a Cisco IOS technology that provides statistics on packets flowing through a Cisco router or multilayer switch.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189325" y="1330859"/>
            <a:ext cx="4235324" cy="3250194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NetFlow provides data to enable: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network and security monitoring,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network planning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traffic analysis to include identification of network bottlenecks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600" dirty="0"/>
              <a:t>IP accounting for billing purposes. 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NetFlow can monitor application connection, tracking byte and packet counts for that individual application flow. 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It then pushes the statistics over to an external server called a NetFlow collector.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5" t="11569" r="7461" b="8162"/>
          <a:stretch/>
        </p:blipFill>
        <p:spPr>
          <a:xfrm>
            <a:off x="4379385" y="1524121"/>
            <a:ext cx="4674689" cy="2242159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</p:spPr>
      </p:pic>
      <p:sp>
        <p:nvSpPr>
          <p:cNvPr id="4" name="Content Placeholder 3"/>
          <p:cNvSpPr/>
          <p:nvPr/>
        </p:nvSpPr>
        <p:spPr>
          <a:xfrm>
            <a:off x="4424649" y="3702909"/>
            <a:ext cx="4674689" cy="57036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00"/>
                </a:solidFill>
              </a:rPr>
              <a:t>PC 1 connects to PC 2 using HTTPS</a:t>
            </a:r>
            <a:endParaRPr lang="en-IN" sz="16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2777780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Port Mirroring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6"/>
            <a:ext cx="8592530" cy="55002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Port mirroring is a feature that allows a switch to make duplicate copies of traffic passing through a switch, and then sending it out a port with a network monitor attached.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5438" y="1442233"/>
            <a:ext cx="6696000" cy="299171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Content Placeholder 3"/>
          <p:cNvSpPr txBox="1"/>
          <p:nvPr/>
        </p:nvSpPr>
        <p:spPr>
          <a:xfrm>
            <a:off x="1202599" y="4407191"/>
            <a:ext cx="6774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Traffic Sniffing Using a Switch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539910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Syslog Servers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0276" y="780839"/>
            <a:ext cx="4210655" cy="3791161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The most common method of accessing system messages is to use a protocol called syslog.</a:t>
            </a:r>
            <a:endParaRPr lang="en-US" sz="1600" dirty="0"/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Syslog protocol allows networking devices to send their system messages across the network to syslog servers.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It provides three primary functions:</a:t>
            </a:r>
          </a:p>
          <a:p>
            <a:pPr marL="3619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ability to gather logging information for monitoring and troubleshooting</a:t>
            </a:r>
          </a:p>
          <a:p>
            <a:pPr marL="3619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ability to select the type of logging information that is captured</a:t>
            </a:r>
          </a:p>
          <a:p>
            <a:pPr marL="3619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ability to specify the destination of captured syslog messages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endParaRPr lang="en-US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9" t="7409" r="13903" b="4009"/>
          <a:stretch/>
        </p:blipFill>
        <p:spPr>
          <a:xfrm>
            <a:off x="4384964" y="1143000"/>
            <a:ext cx="4536000" cy="302707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Content Placeholder 4"/>
          <p:cNvSpPr txBox="1"/>
          <p:nvPr/>
        </p:nvSpPr>
        <p:spPr>
          <a:xfrm>
            <a:off x="4405443" y="4165490"/>
            <a:ext cx="4506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Syslog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2767628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NTP</a:t>
            </a:r>
            <a:endParaRPr lang="en-US" altLang="en-US" dirty="0"/>
          </a:p>
        </p:txBody>
      </p:sp>
      <p:sp>
        <p:nvSpPr>
          <p:cNvPr id="4" name="Content Placeholder 1"/>
          <p:cNvSpPr txBox="1"/>
          <p:nvPr/>
        </p:nvSpPr>
        <p:spPr>
          <a:xfrm>
            <a:off x="181072" y="695889"/>
            <a:ext cx="8890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50000"/>
                  </a:schemeClr>
                </a:solidFill>
              </a:rPr>
              <a:t>It is important to synchronize the time across all devices on the network. The date and time settings on a network device can be set using one of two methods: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71645" y="1218803"/>
            <a:ext cx="5383758" cy="613395"/>
          </a:xfrm>
        </p:spPr>
        <p:txBody>
          <a:bodyPr/>
          <a:lstStyle/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Manual configuration of the date and time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Configuring the Network Time Protocol (NTP)</a:t>
            </a:r>
          </a:p>
          <a:p>
            <a:pPr marL="27146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NTP networks use a hierarchical system of time sources, where each level in this system is called a stratum. </a:t>
            </a:r>
            <a:r>
              <a:rPr lang="en-IN" sz="1600" dirty="0"/>
              <a:t>NTP servers are arranged in three levels known as strata: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Stratum 0</a:t>
            </a:r>
            <a:r>
              <a:rPr lang="en-IN" sz="1600" dirty="0"/>
              <a:t>: An NTP network gets the time from authoritative time sources.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IN" sz="1600" b="1" dirty="0"/>
              <a:t>Stratum 1</a:t>
            </a:r>
            <a:r>
              <a:rPr lang="en-IN" sz="1600" dirty="0"/>
              <a:t>: Devices are directly connected to the authoritative time sources. </a:t>
            </a:r>
            <a:r>
              <a:rPr lang="en-US" sz="1600" dirty="0"/>
              <a:t> </a:t>
            </a:r>
          </a:p>
          <a:p>
            <a:pPr marL="460375" lvl="1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Stratum 2 and lower strata</a:t>
            </a:r>
            <a:r>
              <a:rPr lang="en-US" sz="1600" dirty="0"/>
              <a:t>: </a:t>
            </a:r>
            <a:r>
              <a:rPr lang="en-IN" sz="1600" dirty="0"/>
              <a:t>Stratum 2 devices, such as NTP clients, synchronize their time using the NTP packets from stratum 1 servers. </a:t>
            </a:r>
            <a:endParaRPr lang="en-US" sz="1600" dirty="0"/>
          </a:p>
          <a:p>
            <a:pPr marL="271463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5" t="2823" r="10800" b="4878"/>
          <a:stretch/>
        </p:blipFill>
        <p:spPr>
          <a:xfrm>
            <a:off x="5122718" y="1280664"/>
            <a:ext cx="3780000" cy="29972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Content Placeholder 6"/>
          <p:cNvSpPr txBox="1"/>
          <p:nvPr/>
        </p:nvSpPr>
        <p:spPr>
          <a:xfrm>
            <a:off x="5351085" y="4299517"/>
            <a:ext cx="3644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NTP Stratum Levels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625084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AAA Servers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3" y="798946"/>
            <a:ext cx="8422993" cy="65806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below table lists the three independent security functions provided by the AAA architectural framework.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23644"/>
              </p:ext>
            </p:extLst>
          </p:nvPr>
        </p:nvGraphicFramePr>
        <p:xfrm>
          <a:off x="224724" y="1444453"/>
          <a:ext cx="8826285" cy="293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4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60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IN" b="0" dirty="0">
                          <a:effectLst/>
                        </a:rPr>
                        <a:t>Authentication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Users and administrators must prove that they are who they say they are.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Authentication can be 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b="0" dirty="0">
                          <a:effectLst/>
                        </a:rPr>
                        <a:t>stablished using username and password combinations, challenge and response questions, token cards, and other methods.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AAA authentication provides a centralized way to control access to the network.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IN" b="0" dirty="0">
                          <a:effectLst/>
                        </a:rPr>
                        <a:t>Authorization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 the user is authenticated, authorization services determine which resources the user can access and which operations the user is allowed to perform.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example is “User ‘student’ can access host serverXYZ using SSH only.”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IN" b="0" dirty="0">
                          <a:effectLst/>
                        </a:rPr>
                        <a:t>Accounting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Accounting records what the user does, including what is accessed, the amount of time the resource is accessed, and any changes that were made.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effectLst/>
                        </a:rPr>
                        <a:t>Accounting keeps track of how network resources are used. </a:t>
                      </a:r>
                    </a:p>
                    <a:p>
                      <a:pPr marL="285750" indent="-285750" fontAlgn="ctr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example is "User ‘student’ accessed host serverXYZ using SSH for 15 minutes."</a:t>
                      </a:r>
                      <a:endParaRPr lang="en-US" b="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5567776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AAA Servers (Contd.)</a:t>
            </a:r>
            <a:endParaRPr lang="en-US" altLang="en-US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167314" y="729236"/>
            <a:ext cx="9178168" cy="65806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below table lists the difference between Terminal Access Controller Access-Control System Plus (TACACS+) and Remote Authentication Dial-In User Service (RADIUS) protocols.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436062"/>
              </p:ext>
            </p:extLst>
          </p:nvPr>
        </p:nvGraphicFramePr>
        <p:xfrm>
          <a:off x="224725" y="1345766"/>
          <a:ext cx="886503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8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3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TACACS+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RADIUS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05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Functionality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Separates AAA according to the AAA architecture,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Combines authentication and authorization but separates accounting,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30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Mostly Cisco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Open/RFC standard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796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Transport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TCP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UDP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200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Protocol CHAP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Bidirectional challenge and response as used in Challenge Handshake Authentication Protocol (CHAP)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Unidirectional challenge and response from the RADIUS security server to the RADIUS client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83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Confidentiality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Entire packet encrypted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Password encrypted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754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Customization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Provides authorization of router commands on per-user or per-group basis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No option to authorize router commands on a per-user or per-group basis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83"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</a:rPr>
                        <a:t>Accounting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/>
                        </a:rPr>
                        <a:t>Extensive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59578500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Security Services</a:t>
            </a:r>
            <a:br>
              <a:rPr lang="en-US" altLang="en-US" dirty="0"/>
            </a:br>
            <a:r>
              <a:rPr lang="en-IN" dirty="0"/>
              <a:t>VPN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6"/>
            <a:ext cx="4572660" cy="4137264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 VPN is a private network that is created over a public network (usually the internet).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 VPN uses virtual connections routed through the Internet from the organization to the remote site.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600" dirty="0"/>
              <a:t>A VPN is a communications environment in which access is strictly controlled to permit peer connections within a defined community of interest.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Confidentiality is achieved by encrypting the traffic within the VPN.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In short, VPN connects two endpoints over a public network, to form a logical connection which can be made at Layer 2 or Layer 3.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510733" y="946241"/>
            <a:ext cx="4500000" cy="313543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Content Placeholder 8"/>
          <p:cNvSpPr txBox="1"/>
          <p:nvPr/>
        </p:nvSpPr>
        <p:spPr>
          <a:xfrm>
            <a:off x="4644032" y="4122491"/>
            <a:ext cx="430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</a:schemeClr>
                </a:solidFill>
              </a:rPr>
              <a:t>Virtual Private Network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1123870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4" y="915409"/>
            <a:ext cx="8599985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12.4 Network Security 	Infrastructure Summary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4130291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 Summary</a:t>
            </a:r>
            <a:br>
              <a:rPr lang="en-US" altLang="en-US" dirty="0"/>
            </a:br>
            <a:r>
              <a:rPr lang="en-IN" altLang="en-US" dirty="0"/>
              <a:t>What Did I Learn in this Module?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0120" y="801475"/>
            <a:ext cx="8782493" cy="3887483"/>
          </a:xfrm>
        </p:spPr>
        <p:txBody>
          <a:bodyPr/>
          <a:lstStyle/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Networks are typically represented as physical and logical topologies.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A physical topology represents physical connections and how end devices are connected whereas a logical topology refers to the standards and protocols that devices use to communicate.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The two most common types of network infrastructures are LANs and WANs.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The campus wired LAN design consists of hierarchical layers (access, distribution, core) with each layer assigned specific functions.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Common security architectures define the boundaries of traffic entering and leaving the network.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The different types of firewalls are Packet filtering firewalls, stateful inspection firewall, Application gateway firewalls, Next-generation firewalls.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0101980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 Summary</a:t>
            </a:r>
            <a:br>
              <a:rPr lang="en-US" altLang="en-US" dirty="0"/>
            </a:br>
            <a:r>
              <a:rPr lang="en-IN" altLang="en-US" dirty="0"/>
              <a:t>What Did I Learn in this Module? (Contd.)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0120" y="801475"/>
            <a:ext cx="8904138" cy="3887483"/>
          </a:xfrm>
        </p:spPr>
        <p:txBody>
          <a:bodyPr/>
          <a:lstStyle/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Intrusion prevention systems (IPS) and intrusion detection systems (IDS) are used to detect potential security risks and alert/stop unsafe traffic.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Specialized security appliances are available including Cisco Advanced Malware Protection (AMP), Cisco Web Security Appliance (WSA), and Cisco Email Security Appliance (WSA).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ACLs are a series of statements that control whether a device forwards or drops packets based on information found in the packet header.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SNMP enables network administrators to monitor and manage network performance, find and solve network problems, and plan for network growth.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NetFlow provides statistics on packets that are flowing through a Cisco router or multilayer switch.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Port mirroring is a feature that allows a switch to make duplicate copies of traffic that is passing through the switch, and then send it out a port that has a network monitor attached.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76469698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en-US" sz="1600" dirty="0"/>
              <a:t>Network Security Infrastructure Summary</a:t>
            </a:r>
            <a:br>
              <a:rPr lang="en-US" altLang="en-US" dirty="0"/>
            </a:br>
            <a:r>
              <a:rPr lang="en-IN" altLang="en-US" dirty="0"/>
              <a:t>What Did I Learn in this Module? (Contd.)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0120" y="801475"/>
            <a:ext cx="8888820" cy="3887483"/>
          </a:xfrm>
        </p:spPr>
        <p:txBody>
          <a:bodyPr/>
          <a:lstStyle/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Syslog servers compile and provide access to the system messages generated by networking devices.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NTP synchronizes the system time across all devices on the network to ensure accurate and consistent timestamping of system messages.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AAA is a framework for configuring user authentication, authorization, and accounting services. It typically uses a TACACS+ or RADIUS server for this purpose. </a:t>
            </a:r>
          </a:p>
          <a:p>
            <a:pPr marL="285750" lvl="2" indent="-285750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/>
              <a:t>VPNs are private networks that are created between two endpoints across a public network.</a:t>
            </a:r>
          </a:p>
        </p:txBody>
      </p:sp>
    </p:spTree>
    <p:extLst>
      <p:ext uri="{BB962C8B-B14F-4D97-AF65-F5344CB8AC3E}">
        <p14:creationId xmlns:p14="http://schemas.microsoft.com/office/powerpoint/2010/main" val="4051801284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9144000" cy="757551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12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144463" y="798513"/>
          <a:ext cx="8853486" cy="3718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951162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863048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3039276">
                  <a:extLst>
                    <a:ext uri="{9D8B030D-6E8A-4147-A177-3AD203B41FA5}">
                      <a16:colId xmlns:a16="http://schemas.microsoft.com/office/drawing/2014/main" val="281959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+mn-lt"/>
                        </a:rPr>
                        <a:t>Topology Diagram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+mn-lt"/>
                        </a:rPr>
                        <a:t>Demilitarized Zone (DMZ)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+mn-lt"/>
                        </a:rPr>
                        <a:t>Zone-based Policy Firewalls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 (ZPF)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Packet Filtering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Stateful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Application gateway Firewall (Proxy Firewall)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Next- Generation Firewall(NGFW)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Host based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Transparent Firewall</a:t>
                      </a:r>
                    </a:p>
                    <a:p>
                      <a:pPr marL="173038" indent="-173038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  <a:latin typeface="+mn-lt"/>
                        </a:rPr>
                        <a:t>Hybrid Firewall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Intrusion Detection Systems(IDS)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Intrusion</a:t>
                      </a: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 Prevention Systems(IPS)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Advanced Malware Protection(AMP)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Web Security Appliance (WSA)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Cloud Web Security (CWS)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kern="1200" baseline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Cisco Email Security Appliance (ESA) </a:t>
                      </a:r>
                    </a:p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Access Control List (ACL)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Standard ACL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Extended ACL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Simple Network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Management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Protocol (SNMP)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NetFlow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Port</a:t>
                      </a: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 Mirroring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Syslog Server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Network Time Protocol (NTP)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Stratum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TACACS+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RADIUS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baseline="0" dirty="0">
                          <a:solidFill>
                            <a:srgbClr val="000000"/>
                          </a:solidFill>
                        </a:rPr>
                        <a:t>VPN</a:t>
                      </a:r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970014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413097745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7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30064</TotalTime>
  <Words>4599</Words>
  <Application>Microsoft Office PowerPoint</Application>
  <PresentationFormat>On-screen Show (16:9)</PresentationFormat>
  <Paragraphs>613</Paragraphs>
  <Slides>48</Slides>
  <Notes>47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CiscoSans</vt:lpstr>
      <vt:lpstr>CiscoSans ExtraLight</vt:lpstr>
      <vt:lpstr>Wingdings</vt:lpstr>
      <vt:lpstr>Default Theme</vt:lpstr>
      <vt:lpstr>Module 12: Network Security Infrastructure</vt:lpstr>
      <vt:lpstr>Module Objectives</vt:lpstr>
      <vt:lpstr>12.1 Network Topologies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12.2 Security Devices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12.3 Security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12.4 Network Security  Infrastructure Summary</vt:lpstr>
      <vt:lpstr>PowerPoint Presentation</vt:lpstr>
      <vt:lpstr>PowerPoint Presentation</vt:lpstr>
      <vt:lpstr>PowerPoint Presentation</vt:lpstr>
      <vt:lpstr>Module 12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Warren Earle</cp:lastModifiedBy>
  <cp:revision>1375</cp:revision>
  <dcterms:created xsi:type="dcterms:W3CDTF">2016-08-22T22:27:36Z</dcterms:created>
  <dcterms:modified xsi:type="dcterms:W3CDTF">2020-10-27T07:45:38Z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