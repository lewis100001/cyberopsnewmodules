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sldIdLst>
    <p:sldId id="257" r:id="rId6"/>
    <p:sldId id="265" r:id="rId7"/>
    <p:sldId id="259" r:id="rId8"/>
    <p:sldId id="266" r:id="rId9"/>
    <p:sldId id="258" r:id="rId10"/>
    <p:sldId id="267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B4C73B-7C38-423C-8CEC-B145485ADA8C}" v="63" dt="2021-01-19T16:48:53.5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1C01C-EFEC-428F-B245-E97DFD5BA5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C1EA82-8DF8-47A3-A103-1A49671813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B41EE-FC7D-4865-8016-6A304C8D6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EF6B0-3730-42EB-8420-0DFE82B67C5C}" type="datetimeFigureOut">
              <a:rPr lang="en-GB" smtClean="0"/>
              <a:t>12/10/2021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F84B3-871D-4254-B322-DDBC73C74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B9A33-A48E-4671-94E7-F28C28E8E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A9407-0CA9-4EE2-BA07-319A9589C0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2177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02EFF-FD76-4C20-9DE3-E05FE622A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4AD2C-D18C-49F6-BB7E-1497D5CB7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69AB4-35CA-486D-95D6-E1A92BFF6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EF6B0-3730-42EB-8420-0DFE82B67C5C}" type="datetimeFigureOut">
              <a:rPr lang="en-GB" smtClean="0"/>
              <a:t>12/10/2021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5B233-A563-4377-827B-FB1021526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88796-1291-4F95-A6B5-AB94929A8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A9407-0CA9-4EE2-BA07-319A9589C0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2015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7B0C1-84F2-4523-8AD1-54369D414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DF83EA-DF9D-40D5-8265-C306902A6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357A8-A230-4FE0-BB03-F70206DCA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EF6B0-3730-42EB-8420-0DFE82B67C5C}" type="datetimeFigureOut">
              <a:rPr lang="en-GB" smtClean="0"/>
              <a:t>12/10/2021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622EA-BE50-4EFE-B4FA-3F3EF139B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F80C0-36AE-413E-BC6C-D3602DD7A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A9407-0CA9-4EE2-BA07-319A9589C0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0701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EE0CA-6033-4B0C-85C4-693125A1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B5025-2340-4F34-B829-A5EA483810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E42570-79E1-4104-9ED0-2DEAEDFBB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F841C-1110-4BDF-A37D-46439E75B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EF6B0-3730-42EB-8420-0DFE82B67C5C}" type="datetimeFigureOut">
              <a:rPr lang="en-GB" smtClean="0"/>
              <a:t>12/10/2021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1AFABC-196B-4DC3-9C1F-954922266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3DA77-368F-4AFD-9573-B415EC05E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A9407-0CA9-4EE2-BA07-319A9589C0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4339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315C5-4A7B-4812-B0AF-7E14871A4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A6CA0-1E31-4967-82AC-2CA646669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94A0CE-D14E-4832-9CCF-F58567BB23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18B3E5-9F14-43E5-B40C-37688F4EF2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5E78BC-3228-4269-A767-F22F6D3ACD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94572F-AA25-4954-AEB3-9984C3903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EF6B0-3730-42EB-8420-0DFE82B67C5C}" type="datetimeFigureOut">
              <a:rPr lang="en-GB" smtClean="0"/>
              <a:t>12/10/2021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A6CC9F-D05D-4912-98EC-A39C1BE1A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38FF63-5825-46BF-B956-9C8051545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A9407-0CA9-4EE2-BA07-319A9589C0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0625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5AFB4-F6C2-4B2D-8648-14C8DBC82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054FB5-8DB9-400D-A17F-8ABDE8CD7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EF6B0-3730-42EB-8420-0DFE82B67C5C}" type="datetimeFigureOut">
              <a:rPr lang="en-GB" smtClean="0"/>
              <a:t>12/10/2021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963A39-745A-4513-9A76-0B18963B8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477913-B25F-4D67-B8AB-4FD374294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A9407-0CA9-4EE2-BA07-319A9589C0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7003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32854C-57EC-4E94-B0FC-1D99F2EE6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EF6B0-3730-42EB-8420-0DFE82B67C5C}" type="datetimeFigureOut">
              <a:rPr lang="en-GB" smtClean="0"/>
              <a:t>12/10/2021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783775-C24C-4F83-B067-2439966CA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268CD-AACB-4FD8-AF7D-087D68BDD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A9407-0CA9-4EE2-BA07-319A9589C0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7861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45404-37A3-479C-B1F6-4609A30DE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19631-70D8-4FD9-9248-E405FDC5A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42EC32-9B09-4C01-BC32-65EF1B81E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85E413-1FE7-4CD5-81E4-D1B3ABF5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EF6B0-3730-42EB-8420-0DFE82B67C5C}" type="datetimeFigureOut">
              <a:rPr lang="en-GB" smtClean="0"/>
              <a:t>12/10/2021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3DB95-7F2D-4C6D-B2B2-A2765448F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98FD3-9A1B-460B-91E7-AF5BC79B6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A9407-0CA9-4EE2-BA07-319A9589C0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386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68899-9409-468E-BBEE-B554A774F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40CEA0-A50A-4EB9-AC27-0B66AB6386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94295-5E9C-4AB9-A992-34DC373F7B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F108C-10BD-4C63-9AE0-C3717F020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EF6B0-3730-42EB-8420-0DFE82B67C5C}" type="datetimeFigureOut">
              <a:rPr lang="en-GB" smtClean="0"/>
              <a:t>12/10/2021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F38E21-F927-4C7F-8E83-8850EE25E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12657-12C9-48EF-B091-896434064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A9407-0CA9-4EE2-BA07-319A9589C0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6967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A107C-AAAF-4E31-BEAB-2F71B034E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E93559-0C91-4E5F-BEDA-7CF6354A91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99E2B-8702-4F2A-B576-9C582426E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EF6B0-3730-42EB-8420-0DFE82B67C5C}" type="datetimeFigureOut">
              <a:rPr lang="en-GB" smtClean="0"/>
              <a:t>12/10/2021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6FBEA-E9A4-4C4C-A2E7-B26B846DF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B914C-BA52-4EE3-B017-FA7F48FE4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A9407-0CA9-4EE2-BA07-319A9589C0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2061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DF0498-C290-4F55-BD59-C96AA1D51B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119405-22D5-4B27-BBFD-979943E11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8D0AE-3B00-4A5C-A68E-19F005C1C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EF6B0-3730-42EB-8420-0DFE82B67C5C}" type="datetimeFigureOut">
              <a:rPr lang="en-GB" smtClean="0"/>
              <a:t>12/10/2021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27082-F463-456F-A919-52903019C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F3CE7-E0CB-41FB-A207-A1A3C7013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A9407-0CA9-4EE2-BA07-319A9589C0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0107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847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734DDD-6B35-4621-A297-AEBF525F4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EBCDF-8500-432F-8BC1-A2D70215D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2FBB5-63B7-488F-B5E2-71E46A3356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DEF6B0-3730-42EB-8420-0DFE82B67C5C}" type="datetimeFigureOut">
              <a:rPr lang="en-GB" smtClean="0"/>
              <a:t>12/10/2021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85A11-BFE9-44AC-BBBD-4A90DA847B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E0F8-E981-435A-9ED9-FDA8335A05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FA9407-0CA9-4EE2-BA07-319A9589C00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5525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040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58C7BEB0-D7DF-407D-BAC5-39617F8D8F96}"/>
              </a:ext>
            </a:extLst>
          </p:cNvPr>
          <p:cNvCxnSpPr>
            <a:cxnSpLocks/>
          </p:cNvCxnSpPr>
          <p:nvPr/>
        </p:nvCxnSpPr>
        <p:spPr>
          <a:xfrm flipV="1">
            <a:off x="26637593" y="7391371"/>
            <a:ext cx="484408" cy="363457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7330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B9C2429-2FCA-4430-9447-FA6FA7FF04F8}"/>
              </a:ext>
            </a:extLst>
          </p:cNvPr>
          <p:cNvGrpSpPr/>
          <p:nvPr/>
        </p:nvGrpSpPr>
        <p:grpSpPr>
          <a:xfrm>
            <a:off x="1944291" y="3255"/>
            <a:ext cx="8303419" cy="1350962"/>
            <a:chOff x="2265760" y="3255"/>
            <a:chExt cx="8303419" cy="135096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FD0E090-ABE7-4B4D-81BB-90A3D351CD3B}"/>
                </a:ext>
              </a:extLst>
            </p:cNvPr>
            <p:cNvSpPr txBox="1"/>
            <p:nvPr/>
          </p:nvSpPr>
          <p:spPr>
            <a:xfrm>
              <a:off x="4112419" y="3255"/>
              <a:ext cx="50101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b="1" dirty="0"/>
                <a:t>IGNITE Project – Summary 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AF5F276-A6CB-4801-BCAB-1FCE646830C1}"/>
                </a:ext>
              </a:extLst>
            </p:cNvPr>
            <p:cNvSpPr txBox="1"/>
            <p:nvPr/>
          </p:nvSpPr>
          <p:spPr>
            <a:xfrm>
              <a:off x="2265760" y="523220"/>
              <a:ext cx="830341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/>
                <a:t>Optimising Remote Control of an Unmanned Merchant Ship of the future.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CE65D46-7F8B-49B7-8DDE-96C1B77B2A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181173" y="2036564"/>
            <a:ext cx="4354512" cy="32658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9BDD64-4333-409D-8035-A496098B1391}"/>
              </a:ext>
            </a:extLst>
          </p:cNvPr>
          <p:cNvSpPr txBox="1"/>
          <p:nvPr/>
        </p:nvSpPr>
        <p:spPr>
          <a:xfrm>
            <a:off x="5000625" y="1223287"/>
            <a:ext cx="63531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Manned Model used for Ship handling Training</a:t>
            </a:r>
          </a:p>
          <a:p>
            <a:endParaRPr lang="en-GB" sz="2400" dirty="0"/>
          </a:p>
          <a:p>
            <a:r>
              <a:rPr lang="en-GB" sz="2400" dirty="0"/>
              <a:t>Full Mission Bridge Simulator used for Navigation Training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CD8779-394D-4E5B-A639-1CB19DCC3E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8038" y="2792947"/>
            <a:ext cx="5010150" cy="33401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D1EAAD5-A473-4D19-AF70-667BED0D5A97}"/>
              </a:ext>
            </a:extLst>
          </p:cNvPr>
          <p:cNvCxnSpPr>
            <a:cxnSpLocks/>
          </p:cNvCxnSpPr>
          <p:nvPr/>
        </p:nvCxnSpPr>
        <p:spPr>
          <a:xfrm>
            <a:off x="3719811" y="2821781"/>
            <a:ext cx="942379" cy="847725"/>
          </a:xfrm>
          <a:prstGeom prst="straightConnector1">
            <a:avLst/>
          </a:prstGeom>
          <a:ln w="120650"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9" name="Picture 4" descr="A picture containing text, logo&#10;&#10;Description automatically generated">
            <a:extLst>
              <a:ext uri="{FF2B5EF4-FFF2-40B4-BE49-F238E27FC236}">
                <a16:creationId xmlns:a16="http://schemas.microsoft.com/office/drawing/2014/main" id="{EB82AFD3-2AEE-4F8F-860A-887065F33E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4504" y="5591175"/>
            <a:ext cx="1752600" cy="1266825"/>
          </a:xfrm>
          <a:prstGeom prst="rect">
            <a:avLst/>
          </a:prstGeom>
        </p:spPr>
      </p:pic>
      <p:pic>
        <p:nvPicPr>
          <p:cNvPr id="13" name="Picture 5" descr="A picture containing diagram, logo&#10;&#10;Description automatically generated">
            <a:extLst>
              <a:ext uri="{FF2B5EF4-FFF2-40B4-BE49-F238E27FC236}">
                <a16:creationId xmlns:a16="http://schemas.microsoft.com/office/drawing/2014/main" id="{022E1E26-1178-4608-96CB-49BBF1480A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9" y="5834344"/>
            <a:ext cx="1310482" cy="102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578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4180E57-EE09-41C4-A96F-3E2BE20A7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289" y="575162"/>
            <a:ext cx="9155907" cy="7702589"/>
          </a:xfrm>
          <a:prstGeom prst="rect">
            <a:avLst/>
          </a:prstGeom>
        </p:spPr>
      </p:pic>
      <p:pic>
        <p:nvPicPr>
          <p:cNvPr id="30" name="Graphic 29" descr="Cell Tower">
            <a:extLst>
              <a:ext uri="{FF2B5EF4-FFF2-40B4-BE49-F238E27FC236}">
                <a16:creationId xmlns:a16="http://schemas.microsoft.com/office/drawing/2014/main" id="{8613B115-A329-48B9-8AF3-038FE2467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8748" y="4751702"/>
            <a:ext cx="650492" cy="650492"/>
          </a:xfrm>
          <a:prstGeom prst="rect">
            <a:avLst/>
          </a:prstGeom>
        </p:spPr>
      </p:pic>
      <p:pic>
        <p:nvPicPr>
          <p:cNvPr id="32" name="Graphic 31" descr="Cell Tower">
            <a:extLst>
              <a:ext uri="{FF2B5EF4-FFF2-40B4-BE49-F238E27FC236}">
                <a16:creationId xmlns:a16="http://schemas.microsoft.com/office/drawing/2014/main" id="{15197E86-E35E-48B0-B394-A5F3E091E4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52590" y="4578856"/>
            <a:ext cx="650492" cy="650492"/>
          </a:xfrm>
          <a:prstGeom prst="rect">
            <a:avLst/>
          </a:prstGeom>
        </p:spPr>
      </p:pic>
      <p:pic>
        <p:nvPicPr>
          <p:cNvPr id="42" name="Graphic 41" descr="Cell Tower">
            <a:extLst>
              <a:ext uri="{FF2B5EF4-FFF2-40B4-BE49-F238E27FC236}">
                <a16:creationId xmlns:a16="http://schemas.microsoft.com/office/drawing/2014/main" id="{F6890E3C-1094-4BA7-B5BE-531A0C4761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4051" y="2067103"/>
            <a:ext cx="590202" cy="590202"/>
          </a:xfrm>
          <a:prstGeom prst="rect">
            <a:avLst/>
          </a:prstGeom>
        </p:spPr>
      </p:pic>
      <p:pic>
        <p:nvPicPr>
          <p:cNvPr id="23" name="Graphic 22" descr="Cell Tower">
            <a:extLst>
              <a:ext uri="{FF2B5EF4-FFF2-40B4-BE49-F238E27FC236}">
                <a16:creationId xmlns:a16="http://schemas.microsoft.com/office/drawing/2014/main" id="{CB0908FD-0324-45F7-9EE7-742A200075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3849" y="2513568"/>
            <a:ext cx="590202" cy="590202"/>
          </a:xfrm>
          <a:prstGeom prst="rect">
            <a:avLst/>
          </a:prstGeom>
        </p:spPr>
      </p:pic>
      <p:pic>
        <p:nvPicPr>
          <p:cNvPr id="29" name="Graphic 28" descr="Cell Tower">
            <a:extLst>
              <a:ext uri="{FF2B5EF4-FFF2-40B4-BE49-F238E27FC236}">
                <a16:creationId xmlns:a16="http://schemas.microsoft.com/office/drawing/2014/main" id="{80CCB6FA-7C5C-48D3-A6E4-762E16731C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01460" y="3212998"/>
            <a:ext cx="590202" cy="590202"/>
          </a:xfrm>
          <a:prstGeom prst="rect">
            <a:avLst/>
          </a:prstGeom>
        </p:spPr>
      </p:pic>
      <p:pic>
        <p:nvPicPr>
          <p:cNvPr id="33" name="Graphic 32" descr="Cell Tower">
            <a:extLst>
              <a:ext uri="{FF2B5EF4-FFF2-40B4-BE49-F238E27FC236}">
                <a16:creationId xmlns:a16="http://schemas.microsoft.com/office/drawing/2014/main" id="{1DB07183-7D8F-4098-9C55-50681DFC49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8677" y="3445320"/>
            <a:ext cx="590202" cy="590202"/>
          </a:xfrm>
          <a:prstGeom prst="rect">
            <a:avLst/>
          </a:prstGeom>
        </p:spPr>
      </p:pic>
      <p:pic>
        <p:nvPicPr>
          <p:cNvPr id="35" name="Graphic 34" descr="Cell Tower">
            <a:extLst>
              <a:ext uri="{FF2B5EF4-FFF2-40B4-BE49-F238E27FC236}">
                <a16:creationId xmlns:a16="http://schemas.microsoft.com/office/drawing/2014/main" id="{38FA728C-D4DB-4FA9-BC00-BFED33DDB9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7503" y="3786875"/>
            <a:ext cx="590202" cy="590202"/>
          </a:xfrm>
          <a:prstGeom prst="rect">
            <a:avLst/>
          </a:prstGeom>
        </p:spPr>
      </p:pic>
      <p:pic>
        <p:nvPicPr>
          <p:cNvPr id="41" name="Graphic 40" descr="Cell Tower">
            <a:extLst>
              <a:ext uri="{FF2B5EF4-FFF2-40B4-BE49-F238E27FC236}">
                <a16:creationId xmlns:a16="http://schemas.microsoft.com/office/drawing/2014/main" id="{4B8C0BBD-903A-4E99-A5B6-9C41CBF0B5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9791" y="4426456"/>
            <a:ext cx="590202" cy="590202"/>
          </a:xfrm>
          <a:prstGeom prst="rect">
            <a:avLst/>
          </a:prstGeom>
        </p:spPr>
      </p:pic>
      <p:pic>
        <p:nvPicPr>
          <p:cNvPr id="43" name="Graphic 42" descr="Cell Tower">
            <a:extLst>
              <a:ext uri="{FF2B5EF4-FFF2-40B4-BE49-F238E27FC236}">
                <a16:creationId xmlns:a16="http://schemas.microsoft.com/office/drawing/2014/main" id="{BF5EBD3F-6A2B-4828-A1E2-5429E9CF0A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85641" y="3578087"/>
            <a:ext cx="590202" cy="590202"/>
          </a:xfrm>
          <a:prstGeom prst="rect">
            <a:avLst/>
          </a:prstGeom>
        </p:spPr>
      </p:pic>
      <p:pic>
        <p:nvPicPr>
          <p:cNvPr id="44" name="Graphic 43" descr="Cell Tower">
            <a:extLst>
              <a:ext uri="{FF2B5EF4-FFF2-40B4-BE49-F238E27FC236}">
                <a16:creationId xmlns:a16="http://schemas.microsoft.com/office/drawing/2014/main" id="{E6F26E62-410E-4206-8D46-AF03D620C1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4467" y="2911685"/>
            <a:ext cx="590202" cy="590202"/>
          </a:xfrm>
          <a:prstGeom prst="rect">
            <a:avLst/>
          </a:prstGeom>
        </p:spPr>
      </p:pic>
      <p:pic>
        <p:nvPicPr>
          <p:cNvPr id="62" name="Picture 5" descr="A picture containing diagram, logo&#10;&#10;Description automatically generated">
            <a:extLst>
              <a:ext uri="{FF2B5EF4-FFF2-40B4-BE49-F238E27FC236}">
                <a16:creationId xmlns:a16="http://schemas.microsoft.com/office/drawing/2014/main" id="{E978DABE-A353-4DD7-B3B4-AD563E96F9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8" y="5597219"/>
            <a:ext cx="1612267" cy="1266825"/>
          </a:xfrm>
          <a:prstGeom prst="rect">
            <a:avLst/>
          </a:prstGeom>
        </p:spPr>
      </p:pic>
      <p:pic>
        <p:nvPicPr>
          <p:cNvPr id="63" name="Picture 4" descr="A picture containing text, logo&#10;&#10;Description automatically generated">
            <a:extLst>
              <a:ext uri="{FF2B5EF4-FFF2-40B4-BE49-F238E27FC236}">
                <a16:creationId xmlns:a16="http://schemas.microsoft.com/office/drawing/2014/main" id="{EA8D534B-2B56-4247-8CC9-1BC90E9648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5575" y="5474493"/>
            <a:ext cx="1752600" cy="1266825"/>
          </a:xfrm>
          <a:prstGeom prst="rect">
            <a:avLst/>
          </a:prstGeom>
        </p:spPr>
      </p:pic>
      <p:sp>
        <p:nvSpPr>
          <p:cNvPr id="65" name="Oval 64">
            <a:extLst>
              <a:ext uri="{FF2B5EF4-FFF2-40B4-BE49-F238E27FC236}">
                <a16:creationId xmlns:a16="http://schemas.microsoft.com/office/drawing/2014/main" id="{E0D5AC78-87B8-4124-9184-CE553ED19921}"/>
              </a:ext>
            </a:extLst>
          </p:cNvPr>
          <p:cNvSpPr/>
          <p:nvPr/>
        </p:nvSpPr>
        <p:spPr>
          <a:xfrm>
            <a:off x="2211514" y="3803200"/>
            <a:ext cx="893963" cy="792856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48A185C-8334-434D-9A5E-9493B906769E}"/>
              </a:ext>
            </a:extLst>
          </p:cNvPr>
          <p:cNvSpPr/>
          <p:nvPr/>
        </p:nvSpPr>
        <p:spPr>
          <a:xfrm>
            <a:off x="2352590" y="4423429"/>
            <a:ext cx="962024" cy="882746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24BF0BA-583A-42EA-A260-7FC9D1D20B86}"/>
              </a:ext>
            </a:extLst>
          </p:cNvPr>
          <p:cNvSpPr/>
          <p:nvPr/>
        </p:nvSpPr>
        <p:spPr>
          <a:xfrm>
            <a:off x="3039591" y="4280184"/>
            <a:ext cx="962024" cy="882746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B5B5D5E2-9E62-43E5-8A1A-1864B98D5410}"/>
              </a:ext>
            </a:extLst>
          </p:cNvPr>
          <p:cNvSpPr/>
          <p:nvPr/>
        </p:nvSpPr>
        <p:spPr>
          <a:xfrm>
            <a:off x="2842397" y="3626997"/>
            <a:ext cx="962024" cy="882746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178BA56C-3A80-4C49-862E-A2F05E4190CE}"/>
              </a:ext>
            </a:extLst>
          </p:cNvPr>
          <p:cNvSpPr/>
          <p:nvPr/>
        </p:nvSpPr>
        <p:spPr>
          <a:xfrm>
            <a:off x="3590280" y="3960657"/>
            <a:ext cx="962024" cy="882746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44904DD9-4912-4494-89F9-505789538181}"/>
              </a:ext>
            </a:extLst>
          </p:cNvPr>
          <p:cNvSpPr/>
          <p:nvPr/>
        </p:nvSpPr>
        <p:spPr>
          <a:xfrm>
            <a:off x="4097368" y="3540683"/>
            <a:ext cx="962024" cy="882746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27075A9D-982A-4129-ACFB-31C557687E3E}"/>
              </a:ext>
            </a:extLst>
          </p:cNvPr>
          <p:cNvSpPr/>
          <p:nvPr/>
        </p:nvSpPr>
        <p:spPr>
          <a:xfrm>
            <a:off x="4726120" y="3294888"/>
            <a:ext cx="1099727" cy="1076728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F4AF3E76-3DCA-4BA2-B59D-FD1390B0453A}"/>
              </a:ext>
            </a:extLst>
          </p:cNvPr>
          <p:cNvSpPr/>
          <p:nvPr/>
        </p:nvSpPr>
        <p:spPr>
          <a:xfrm>
            <a:off x="5440860" y="2726472"/>
            <a:ext cx="1131016" cy="1076728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61836DA1-585E-40DA-955E-A66A7BD9AA08}"/>
              </a:ext>
            </a:extLst>
          </p:cNvPr>
          <p:cNvSpPr/>
          <p:nvPr/>
        </p:nvSpPr>
        <p:spPr>
          <a:xfrm>
            <a:off x="6224038" y="2448942"/>
            <a:ext cx="962024" cy="882746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2393577F-BBFC-4214-BD64-BE6643B5CCB0}"/>
              </a:ext>
            </a:extLst>
          </p:cNvPr>
          <p:cNvSpPr/>
          <p:nvPr/>
        </p:nvSpPr>
        <p:spPr>
          <a:xfrm>
            <a:off x="6942284" y="2007569"/>
            <a:ext cx="962024" cy="882746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76AE1E-FBDB-45D2-8800-79BC16883929}"/>
              </a:ext>
            </a:extLst>
          </p:cNvPr>
          <p:cNvSpPr txBox="1"/>
          <p:nvPr/>
        </p:nvSpPr>
        <p:spPr>
          <a:xfrm>
            <a:off x="2352590" y="105180"/>
            <a:ext cx="7448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Planned WIFI Coverage</a:t>
            </a:r>
          </a:p>
        </p:txBody>
      </p:sp>
    </p:spTree>
    <p:extLst>
      <p:ext uri="{BB962C8B-B14F-4D97-AF65-F5344CB8AC3E}">
        <p14:creationId xmlns:p14="http://schemas.microsoft.com/office/powerpoint/2010/main" val="390224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A picture containing text, logo&#10;&#10;Description automatically generated">
            <a:extLst>
              <a:ext uri="{FF2B5EF4-FFF2-40B4-BE49-F238E27FC236}">
                <a16:creationId xmlns:a16="http://schemas.microsoft.com/office/drawing/2014/main" id="{69AD7A73-95FF-450C-95F9-B926E9511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6967" y="5605609"/>
            <a:ext cx="1571207" cy="1135709"/>
          </a:xfrm>
          <a:prstGeom prst="rect">
            <a:avLst/>
          </a:prstGeom>
        </p:spPr>
      </p:pic>
      <p:pic>
        <p:nvPicPr>
          <p:cNvPr id="5" name="Picture 5" descr="A picture containing diagram, logo&#10;&#10;Description automatically generated">
            <a:extLst>
              <a:ext uri="{FF2B5EF4-FFF2-40B4-BE49-F238E27FC236}">
                <a16:creationId xmlns:a16="http://schemas.microsoft.com/office/drawing/2014/main" id="{10DB81F6-3B35-4575-AD31-ED9F8E218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9" y="5430196"/>
            <a:ext cx="1824832" cy="14338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E66C2F-6020-45F3-BD80-EAAE0C3CD3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572374" y="1265331"/>
            <a:ext cx="2695992" cy="20219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066F1E-6712-48AB-AE3C-F95A39A9FA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371609" y="1251807"/>
            <a:ext cx="2570886" cy="19281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27AD9D-E018-4FCE-A516-28EC301B6B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385" y="3287325"/>
            <a:ext cx="10964805" cy="24482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1F6064-3DDA-4AA3-89B1-A07E2FF0E620}"/>
              </a:ext>
            </a:extLst>
          </p:cNvPr>
          <p:cNvSpPr txBox="1"/>
          <p:nvPr/>
        </p:nvSpPr>
        <p:spPr>
          <a:xfrm>
            <a:off x="2724150" y="120913"/>
            <a:ext cx="65151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Example Of Ship Model For Remote Control</a:t>
            </a:r>
          </a:p>
        </p:txBody>
      </p:sp>
    </p:spTree>
    <p:extLst>
      <p:ext uri="{BB962C8B-B14F-4D97-AF65-F5344CB8AC3E}">
        <p14:creationId xmlns:p14="http://schemas.microsoft.com/office/powerpoint/2010/main" val="4215771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 picture containing diagram, logo&#10;&#10;Description automatically generated">
            <a:extLst>
              <a:ext uri="{FF2B5EF4-FFF2-40B4-BE49-F238E27FC236}">
                <a16:creationId xmlns:a16="http://schemas.microsoft.com/office/drawing/2014/main" id="{CDF5A8A2-AA6C-4FA4-979B-6A391B628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" y="5597219"/>
            <a:ext cx="1612267" cy="1266825"/>
          </a:xfrm>
          <a:prstGeom prst="rect">
            <a:avLst/>
          </a:prstGeom>
        </p:spPr>
      </p:pic>
      <p:pic>
        <p:nvPicPr>
          <p:cNvPr id="3" name="Picture 4" descr="A picture containing text, logo&#10;&#10;Description automatically generated">
            <a:extLst>
              <a:ext uri="{FF2B5EF4-FFF2-40B4-BE49-F238E27FC236}">
                <a16:creationId xmlns:a16="http://schemas.microsoft.com/office/drawing/2014/main" id="{65C1D5FF-BD5A-427F-A3DA-7A6C37CE8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6967" y="5605609"/>
            <a:ext cx="1571207" cy="11357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71B261-A80E-4AA4-B809-6A6A76A3D2BC}"/>
              </a:ext>
            </a:extLst>
          </p:cNvPr>
          <p:cNvSpPr txBox="1"/>
          <p:nvPr/>
        </p:nvSpPr>
        <p:spPr>
          <a:xfrm>
            <a:off x="1798320" y="0"/>
            <a:ext cx="93370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u="sng" dirty="0"/>
              <a:t>Project IGNITE – “What Are The Aims?”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82D5E5-A9E5-45E1-8AED-11D8E3C8EF1A}"/>
              </a:ext>
            </a:extLst>
          </p:cNvPr>
          <p:cNvSpPr/>
          <p:nvPr/>
        </p:nvSpPr>
        <p:spPr>
          <a:xfrm>
            <a:off x="257174" y="863827"/>
            <a:ext cx="94869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latin typeface="Segoe UI" panose="020B0502040204020203" pitchFamily="34" charset="0"/>
              </a:rPr>
              <a:t>Optimising Configuration </a:t>
            </a:r>
            <a:r>
              <a:rPr lang="en-GB" sz="2400" dirty="0">
                <a:latin typeface="Segoe UI" panose="020B0502040204020203" pitchFamily="34" charset="0"/>
              </a:rPr>
              <a:t>of</a:t>
            </a:r>
            <a:r>
              <a:rPr lang="en-GB" sz="2400" b="1" dirty="0">
                <a:latin typeface="Segoe UI" panose="020B0502040204020203" pitchFamily="34" charset="0"/>
              </a:rPr>
              <a:t> Remote Control Unmanned Ships</a:t>
            </a:r>
            <a:endParaRPr lang="en-GB" sz="2400" b="1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77D97A-B191-4833-BBA3-00DCA22BE6A1}"/>
              </a:ext>
            </a:extLst>
          </p:cNvPr>
          <p:cNvSpPr/>
          <p:nvPr/>
        </p:nvSpPr>
        <p:spPr>
          <a:xfrm>
            <a:off x="180974" y="1297986"/>
            <a:ext cx="1078230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egoe UI" panose="020B0502040204020203" pitchFamily="34" charset="0"/>
              </a:rPr>
              <a:t>Specifying A </a:t>
            </a:r>
            <a:r>
              <a:rPr lang="en-GB" sz="2400" b="1" dirty="0">
                <a:latin typeface="Segoe UI" panose="020B0502040204020203" pitchFamily="34" charset="0"/>
              </a:rPr>
              <a:t>Secure Remote </a:t>
            </a:r>
            <a:r>
              <a:rPr lang="en-GB" sz="2400" dirty="0">
                <a:latin typeface="Segoe UI" panose="020B0502040204020203" pitchFamily="34" charset="0"/>
              </a:rPr>
              <a:t>Site</a:t>
            </a:r>
            <a:r>
              <a:rPr lang="en-GB" sz="2400" b="1" dirty="0">
                <a:latin typeface="Segoe UI" panose="020B0502040204020203" pitchFamily="34" charset="0"/>
              </a:rPr>
              <a:t> Network Link </a:t>
            </a:r>
            <a:r>
              <a:rPr lang="en-GB" sz="2400" dirty="0">
                <a:latin typeface="Segoe UI" panose="020B0502040204020203" pitchFamily="34" charset="0"/>
              </a:rPr>
              <a:t>for</a:t>
            </a:r>
            <a:r>
              <a:rPr lang="en-GB" sz="2400" b="1" dirty="0">
                <a:latin typeface="Segoe UI" panose="020B0502040204020203" pitchFamily="34" charset="0"/>
              </a:rPr>
              <a:t> </a:t>
            </a:r>
            <a:r>
              <a:rPr lang="en-GB" sz="2400" dirty="0">
                <a:latin typeface="Segoe UI" panose="020B0502040204020203" pitchFamily="34" charset="0"/>
              </a:rPr>
              <a:t>the </a:t>
            </a:r>
            <a:r>
              <a:rPr lang="en-GB" sz="2400" b="1" dirty="0">
                <a:latin typeface="Segoe UI" panose="020B0502040204020203" pitchFamily="34" charset="0"/>
              </a:rPr>
              <a:t>Remote Control </a:t>
            </a:r>
            <a:r>
              <a:rPr lang="en-GB" sz="2400" dirty="0">
                <a:latin typeface="Segoe UI" panose="020B0502040204020203" pitchFamily="34" charset="0"/>
              </a:rPr>
              <a:t>of </a:t>
            </a:r>
            <a:r>
              <a:rPr lang="en-GB" sz="2400" b="1" dirty="0">
                <a:latin typeface="Segoe UI" panose="020B0502040204020203" pitchFamily="34" charset="0"/>
              </a:rPr>
              <a:t>Unmanned Ships</a:t>
            </a:r>
            <a:endParaRPr lang="en-GB" sz="2400" b="1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A6C715-B3C5-478F-B5FC-16C39050A089}"/>
              </a:ext>
            </a:extLst>
          </p:cNvPr>
          <p:cNvSpPr txBox="1"/>
          <p:nvPr/>
        </p:nvSpPr>
        <p:spPr>
          <a:xfrm>
            <a:off x="2066925" y="2102372"/>
            <a:ext cx="74866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u="sng" dirty="0"/>
              <a:t>What We Are Looking For….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6325C5-07CC-4ADC-9DB0-6095511F9896}"/>
              </a:ext>
            </a:extLst>
          </p:cNvPr>
          <p:cNvSpPr txBox="1"/>
          <p:nvPr/>
        </p:nvSpPr>
        <p:spPr>
          <a:xfrm>
            <a:off x="1109648" y="3171639"/>
            <a:ext cx="91535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1" u="sng" dirty="0"/>
              <a:t>Wireless  Connectivity between unmanned ships and internet based remote controller  </a:t>
            </a:r>
            <a:r>
              <a:rPr lang="en-GB" sz="2400" dirty="0"/>
              <a:t>–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Has to be low in latency below 20ms , and achieve maximum coverage across the lake with minimal “blackspots”.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604719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 picture containing diagram, logo&#10;&#10;Description automatically generated">
            <a:extLst>
              <a:ext uri="{FF2B5EF4-FFF2-40B4-BE49-F238E27FC236}">
                <a16:creationId xmlns:a16="http://schemas.microsoft.com/office/drawing/2014/main" id="{CDF5A8A2-AA6C-4FA4-979B-6A391B628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" y="5597219"/>
            <a:ext cx="1612267" cy="1266825"/>
          </a:xfrm>
          <a:prstGeom prst="rect">
            <a:avLst/>
          </a:prstGeom>
        </p:spPr>
      </p:pic>
      <p:pic>
        <p:nvPicPr>
          <p:cNvPr id="3" name="Picture 4" descr="A picture containing text, logo&#10;&#10;Description automatically generated">
            <a:extLst>
              <a:ext uri="{FF2B5EF4-FFF2-40B4-BE49-F238E27FC236}">
                <a16:creationId xmlns:a16="http://schemas.microsoft.com/office/drawing/2014/main" id="{65C1D5FF-BD5A-427F-A3DA-7A6C37CE8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6967" y="5605609"/>
            <a:ext cx="1571207" cy="11357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71B261-A80E-4AA4-B809-6A6A76A3D2BC}"/>
              </a:ext>
            </a:extLst>
          </p:cNvPr>
          <p:cNvSpPr txBox="1"/>
          <p:nvPr/>
        </p:nvSpPr>
        <p:spPr>
          <a:xfrm>
            <a:off x="1798320" y="0"/>
            <a:ext cx="93370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u="sng" dirty="0"/>
              <a:t>Project IGNITE – “What Are The Aims?”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82D5E5-A9E5-45E1-8AED-11D8E3C8EF1A}"/>
              </a:ext>
            </a:extLst>
          </p:cNvPr>
          <p:cNvSpPr/>
          <p:nvPr/>
        </p:nvSpPr>
        <p:spPr>
          <a:xfrm>
            <a:off x="257174" y="863827"/>
            <a:ext cx="94869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dirty="0">
                <a:latin typeface="Segoe UI" panose="020B0502040204020203" pitchFamily="34" charset="0"/>
              </a:rPr>
              <a:t>Optimising Configuration </a:t>
            </a:r>
            <a:r>
              <a:rPr lang="en-GB" sz="2400" dirty="0">
                <a:latin typeface="Segoe UI" panose="020B0502040204020203" pitchFamily="34" charset="0"/>
              </a:rPr>
              <a:t>of</a:t>
            </a:r>
            <a:r>
              <a:rPr lang="en-GB" sz="2400" b="1" dirty="0">
                <a:latin typeface="Segoe UI" panose="020B0502040204020203" pitchFamily="34" charset="0"/>
              </a:rPr>
              <a:t> Remote Control Unmanned Ships</a:t>
            </a:r>
            <a:endParaRPr lang="en-GB" sz="2400" b="1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77D97A-B191-4833-BBA3-00DCA22BE6A1}"/>
              </a:ext>
            </a:extLst>
          </p:cNvPr>
          <p:cNvSpPr/>
          <p:nvPr/>
        </p:nvSpPr>
        <p:spPr>
          <a:xfrm>
            <a:off x="180974" y="1297986"/>
            <a:ext cx="1078230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Segoe UI" panose="020B0502040204020203" pitchFamily="34" charset="0"/>
              </a:rPr>
              <a:t>Specifying A </a:t>
            </a:r>
            <a:r>
              <a:rPr lang="en-GB" sz="2400" b="1" dirty="0">
                <a:latin typeface="Segoe UI" panose="020B0502040204020203" pitchFamily="34" charset="0"/>
              </a:rPr>
              <a:t>Secure Remote </a:t>
            </a:r>
            <a:r>
              <a:rPr lang="en-GB" sz="2400" dirty="0">
                <a:latin typeface="Segoe UI" panose="020B0502040204020203" pitchFamily="34" charset="0"/>
              </a:rPr>
              <a:t>Site</a:t>
            </a:r>
            <a:r>
              <a:rPr lang="en-GB" sz="2400" b="1" dirty="0">
                <a:latin typeface="Segoe UI" panose="020B0502040204020203" pitchFamily="34" charset="0"/>
              </a:rPr>
              <a:t> Network Link </a:t>
            </a:r>
            <a:r>
              <a:rPr lang="en-GB" sz="2400" dirty="0">
                <a:latin typeface="Segoe UI" panose="020B0502040204020203" pitchFamily="34" charset="0"/>
              </a:rPr>
              <a:t>for</a:t>
            </a:r>
            <a:r>
              <a:rPr lang="en-GB" sz="2400" b="1" dirty="0">
                <a:latin typeface="Segoe UI" panose="020B0502040204020203" pitchFamily="34" charset="0"/>
              </a:rPr>
              <a:t> </a:t>
            </a:r>
            <a:r>
              <a:rPr lang="en-GB" sz="2400" dirty="0">
                <a:latin typeface="Segoe UI" panose="020B0502040204020203" pitchFamily="34" charset="0"/>
              </a:rPr>
              <a:t>the </a:t>
            </a:r>
            <a:r>
              <a:rPr lang="en-GB" sz="2400" b="1" dirty="0">
                <a:latin typeface="Segoe UI" panose="020B0502040204020203" pitchFamily="34" charset="0"/>
              </a:rPr>
              <a:t>Remote Control </a:t>
            </a:r>
            <a:r>
              <a:rPr lang="en-GB" sz="2400" dirty="0">
                <a:latin typeface="Segoe UI" panose="020B0502040204020203" pitchFamily="34" charset="0"/>
              </a:rPr>
              <a:t>of </a:t>
            </a:r>
            <a:r>
              <a:rPr lang="en-GB" sz="2400" b="1" dirty="0">
                <a:latin typeface="Segoe UI" panose="020B0502040204020203" pitchFamily="34" charset="0"/>
              </a:rPr>
              <a:t>Unmanned Ships</a:t>
            </a:r>
            <a:endParaRPr lang="en-GB" sz="2400" b="1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A6C715-B3C5-478F-B5FC-16C39050A089}"/>
              </a:ext>
            </a:extLst>
          </p:cNvPr>
          <p:cNvSpPr txBox="1"/>
          <p:nvPr/>
        </p:nvSpPr>
        <p:spPr>
          <a:xfrm>
            <a:off x="2066925" y="2102372"/>
            <a:ext cx="74866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u="sng" dirty="0"/>
              <a:t>What We Are Looking For….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21FB0D-971B-47CD-A2B3-6CEA71BA2CD6}"/>
              </a:ext>
            </a:extLst>
          </p:cNvPr>
          <p:cNvSpPr txBox="1"/>
          <p:nvPr/>
        </p:nvSpPr>
        <p:spPr>
          <a:xfrm>
            <a:off x="1056640" y="2955315"/>
            <a:ext cx="99066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b="1" u="sng" dirty="0"/>
              <a:t>Site To Site Link between Simulator at Solent Campus and control centre for unmanned ships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Has to be low in latency below 50ms.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Has to be secure from unauthorised access.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Used by staff/students only from a remote control centre based at the lake. To control one ship only at any time, whilst others are transmitting data.</a:t>
            </a:r>
          </a:p>
        </p:txBody>
      </p:sp>
    </p:spTree>
    <p:extLst>
      <p:ext uri="{BB962C8B-B14F-4D97-AF65-F5344CB8AC3E}">
        <p14:creationId xmlns:p14="http://schemas.microsoft.com/office/powerpoint/2010/main" val="2916881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9553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1302E2BB6A534D991CEAFA262B204E" ma:contentTypeVersion="10" ma:contentTypeDescription="Create a new document." ma:contentTypeScope="" ma:versionID="48ef183ed0bc25829ee3c1c93a673940">
  <xsd:schema xmlns:xsd="http://www.w3.org/2001/XMLSchema" xmlns:xs="http://www.w3.org/2001/XMLSchema" xmlns:p="http://schemas.microsoft.com/office/2006/metadata/properties" xmlns:ns3="3dc60b49-3282-42fa-9c8c-e1abfe67dffe" xmlns:ns4="7af6e56a-2d9f-4e8e-950a-19ef4e4f4461" targetNamespace="http://schemas.microsoft.com/office/2006/metadata/properties" ma:root="true" ma:fieldsID="4c802957d7c5c31b01850f71cf08e27d" ns3:_="" ns4:_="">
    <xsd:import namespace="3dc60b49-3282-42fa-9c8c-e1abfe67dffe"/>
    <xsd:import namespace="7af6e56a-2d9f-4e8e-950a-19ef4e4f446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c60b49-3282-42fa-9c8c-e1abfe67dff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f6e56a-2d9f-4e8e-950a-19ef4e4f446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62ADEC3-F450-4971-8251-10C6B1B94D3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46CD4C0-7353-47BE-BE49-748346D92A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c60b49-3282-42fa-9c8c-e1abfe67dffe"/>
    <ds:schemaRef ds:uri="7af6e56a-2d9f-4e8e-950a-19ef4e4f44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CA5F500-6AD9-4B5E-AB72-8E9E996001BA}">
  <ds:schemaRefs>
    <ds:schemaRef ds:uri="http://schemas.microsoft.com/office/infopath/2007/PartnerControls"/>
    <ds:schemaRef ds:uri="7af6e56a-2d9f-4e8e-950a-19ef4e4f4461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3dc60b49-3282-42fa-9c8c-e1abfe67dffe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208</Words>
  <Application>Microsoft Office PowerPoint</Application>
  <PresentationFormat>Widescreen</PresentationFormat>
  <Paragraphs>21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Segoe UI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Dollery, Paul</dc:creator>
  <cp:lastModifiedBy>Warren Earle</cp:lastModifiedBy>
  <cp:revision>178</cp:revision>
  <dcterms:created xsi:type="dcterms:W3CDTF">2020-10-23T11:05:54Z</dcterms:created>
  <dcterms:modified xsi:type="dcterms:W3CDTF">2021-10-12T11:14:28Z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0x010100DB1302E2BB6A534D991CEAFA262B204E</vt:lpwstr>
  </property>
</Properties>
</file>