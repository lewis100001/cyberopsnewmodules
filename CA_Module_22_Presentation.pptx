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25.xml" ContentType="application/vnd.openxmlformats-officedocument.presentationml.tags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7"/>
  </p:notesMasterIdLst>
  <p:sldIdLst>
    <p:sldId id="513" r:id="rId2"/>
    <p:sldId id="1079" r:id="rId3"/>
    <p:sldId id="759" r:id="rId4"/>
    <p:sldId id="628" r:id="rId5"/>
    <p:sldId id="1151" r:id="rId6"/>
    <p:sldId id="1152" r:id="rId7"/>
    <p:sldId id="1153" r:id="rId8"/>
    <p:sldId id="1154" r:id="rId9"/>
    <p:sldId id="1155" r:id="rId10"/>
    <p:sldId id="1156" r:id="rId11"/>
    <p:sldId id="1157" r:id="rId12"/>
    <p:sldId id="1158" r:id="rId13"/>
    <p:sldId id="1160" r:id="rId14"/>
    <p:sldId id="1161" r:id="rId15"/>
    <p:sldId id="1162" r:id="rId16"/>
    <p:sldId id="1163" r:id="rId17"/>
    <p:sldId id="1164" r:id="rId18"/>
    <p:sldId id="1165" r:id="rId19"/>
    <p:sldId id="1166" r:id="rId20"/>
    <p:sldId id="1167" r:id="rId21"/>
    <p:sldId id="1168" r:id="rId22"/>
    <p:sldId id="1169" r:id="rId23"/>
    <p:sldId id="1170" r:id="rId24"/>
    <p:sldId id="1149" r:id="rId25"/>
    <p:sldId id="291" r:id="rId26"/>
  </p:sldIdLst>
  <p:sldSz cx="9144000" cy="5143500" type="screen16x9"/>
  <p:notesSz cx="6858000" cy="9144000"/>
  <p:custDataLst>
    <p:tags r:id="rId28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4" clrIdx="3"/>
  <p:cmAuthor id="4" name="jagibbon" initials="jmg" lastIdx="3" clrIdx="4"/>
  <p:cmAuthor id="5" name="Sneha Alex" initials="SA" lastIdx="19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4C69"/>
    <a:srgbClr val="58585B"/>
    <a:srgbClr val="AFE8FB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13" autoAdjust="0"/>
    <p:restoredTop sz="82060" autoAdjust="0"/>
  </p:normalViewPr>
  <p:slideViewPr>
    <p:cSldViewPr snapToGrid="0" showGuides="1">
      <p:cViewPr varScale="1">
        <p:scale>
          <a:sx n="78" d="100"/>
          <a:sy n="78" d="100"/>
        </p:scale>
        <p:origin x="1476" y="78"/>
      </p:cViewPr>
      <p:guideLst>
        <p:guide orient="horz" pos="1620"/>
        <p:guide pos="33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pPr/>
              <a:t>11/16/2020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CyberOps Associate v1.0</a:t>
            </a:r>
          </a:p>
          <a:p>
            <a:r>
              <a:rPr lang="en-US" sz="1200" b="0" dirty="0"/>
              <a:t>Module 22: </a:t>
            </a:r>
            <a:r>
              <a:rPr lang="en-US" sz="1200" b="0" dirty="0">
                <a:solidFill>
                  <a:srgbClr val="FF0000"/>
                </a:solidFill>
              </a:rPr>
              <a:t>Endpoint Protection</a:t>
            </a:r>
            <a:endParaRPr lang="en-GB" b="0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0A313ED8-785B-4D16-9B17-4143385249B9}" type="slidenum">
              <a:rPr lang="en-US" sz="800" b="0"/>
              <a:pPr algn="r"/>
              <a:t>2</a:t>
            </a:fld>
            <a:endParaRPr lang="en-US" sz="800" b="0" dirty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b="0" dirty="0"/>
              <a:t>CyberOps Associate v1.0</a:t>
            </a:r>
          </a:p>
          <a:p>
            <a:pPr>
              <a:buFontTx/>
              <a:buNone/>
            </a:pPr>
            <a:r>
              <a:rPr lang="en-US" sz="1200" b="0" dirty="0"/>
              <a:t>22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Endpoint Protection</a:t>
            </a:r>
            <a:endParaRPr lang="en-US" sz="1200" b="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sz="1200" b="0" dirty="0">
                <a:solidFill>
                  <a:srgbClr val="FF0000"/>
                </a:solidFill>
              </a:rPr>
              <a:t>22.0 </a:t>
            </a:r>
            <a:r>
              <a:rPr lang="en-GB" dirty="0"/>
              <a:t>–</a:t>
            </a:r>
            <a:r>
              <a:rPr lang="en-GB" baseline="0" dirty="0"/>
              <a:t> Introduction</a:t>
            </a:r>
            <a:endParaRPr lang="en-GB" b="0" dirty="0">
              <a:solidFill>
                <a:srgbClr val="FF0000"/>
              </a:solidFill>
            </a:endParaRPr>
          </a:p>
          <a:p>
            <a:r>
              <a:rPr lang="en-GB" baseline="0" dirty="0"/>
              <a:t>22.0.2 </a:t>
            </a:r>
            <a:r>
              <a:rPr lang="en-GB" dirty="0"/>
              <a:t>– </a:t>
            </a:r>
            <a:r>
              <a:rPr lang="en-US" dirty="0"/>
              <a:t>What Will I Learn in this Module?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924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baseline="0" dirty="0"/>
              <a:t>Source:</a:t>
            </a:r>
          </a:p>
          <a:p>
            <a:r>
              <a:rPr lang="en-US" sz="1200" b="0" baseline="0" dirty="0"/>
              <a:t>22 </a:t>
            </a:r>
            <a:r>
              <a:rPr lang="en-GB" sz="1200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r>
              <a:rPr lang="en-US" sz="1200" b="0" dirty="0">
                <a:solidFill>
                  <a:srgbClr val="FF0000"/>
                </a:solidFill>
              </a:rPr>
              <a:t>22.1 </a:t>
            </a:r>
            <a:r>
              <a:rPr lang="en-GB" sz="1200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sz="1200" dirty="0"/>
              <a:t>Antimalware Protection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b="1" u="sng" dirty="0"/>
              <a:t>In-Session Activities / Explanations:</a:t>
            </a: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Time:</a:t>
            </a:r>
            <a:r>
              <a:rPr lang="en-US" sz="1200" b="1" baseline="0" dirty="0"/>
              <a:t> </a:t>
            </a:r>
            <a:r>
              <a:rPr lang="en-US" sz="1200" b="0" baseline="0" dirty="0"/>
              <a:t>10</a:t>
            </a:r>
            <a:r>
              <a:rPr lang="en-US" sz="1200" dirty="0"/>
              <a:t> mins</a:t>
            </a:r>
            <a:endParaRPr lang="en-US" sz="1200" b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Instructor Notes: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Discuss the endpoint threats and how to secure them.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Discuss the host-based and network-based malware protections.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Encourage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learners to complete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CYU on the ‘Identify the Antimalware Terms and Concepts.’</a:t>
            </a:r>
            <a:endParaRPr lang="en-US" sz="12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Key Points:</a:t>
            </a:r>
            <a:r>
              <a:rPr lang="en-US" sz="1200" b="1" baseline="0" dirty="0"/>
              <a:t> </a:t>
            </a:r>
            <a:r>
              <a:rPr lang="en-US" sz="1200" b="0" baseline="0" dirty="0"/>
              <a:t>Endpoints, Antimalware</a:t>
            </a:r>
            <a:endParaRPr lang="en-US" sz="12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4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baseline="0" dirty="0"/>
              <a:t>22</a:t>
            </a:r>
            <a:r>
              <a:rPr lang="en-US" sz="1200" b="0" dirty="0"/>
              <a:t>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r>
              <a:rPr lang="en-US" sz="1200" b="0" dirty="0">
                <a:solidFill>
                  <a:srgbClr val="FF0000"/>
                </a:solidFill>
              </a:rPr>
              <a:t>22.1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Antimalware Protection</a:t>
            </a:r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22.1.1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Threats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5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baseline="0" dirty="0"/>
              <a:t>22</a:t>
            </a:r>
            <a:r>
              <a:rPr lang="en-US" sz="1200" b="0" dirty="0"/>
              <a:t>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r>
              <a:rPr lang="en-US" sz="1200" b="0" dirty="0">
                <a:solidFill>
                  <a:srgbClr val="FF0000"/>
                </a:solidFill>
              </a:rPr>
              <a:t>22.1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Antimalware Protection</a:t>
            </a:r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22.1.2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Security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2630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6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baseline="0" dirty="0"/>
              <a:t>22</a:t>
            </a:r>
            <a:r>
              <a:rPr lang="en-US" sz="1200" b="0" dirty="0"/>
              <a:t>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r>
              <a:rPr lang="en-US" sz="1200" b="0" dirty="0">
                <a:solidFill>
                  <a:srgbClr val="FF0000"/>
                </a:solidFill>
              </a:rPr>
              <a:t>22.1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Antimalware Protection</a:t>
            </a:r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22.1.3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Host-Based Malware Protection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732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7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baseline="0" dirty="0"/>
              <a:t>22</a:t>
            </a:r>
            <a:r>
              <a:rPr lang="en-US" sz="1200" b="0" dirty="0"/>
              <a:t>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r>
              <a:rPr lang="en-US" sz="1200" b="0" dirty="0">
                <a:solidFill>
                  <a:srgbClr val="FF0000"/>
                </a:solidFill>
              </a:rPr>
              <a:t>22.1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Antimalware Protection</a:t>
            </a:r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22.1.3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Host-Based Malware Protection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2345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8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baseline="0" dirty="0"/>
              <a:t>22</a:t>
            </a:r>
            <a:r>
              <a:rPr lang="en-US" sz="1200" b="0" dirty="0"/>
              <a:t>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r>
              <a:rPr lang="en-US" sz="1200" b="0" dirty="0">
                <a:solidFill>
                  <a:srgbClr val="FF0000"/>
                </a:solidFill>
              </a:rPr>
              <a:t>22.1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Antimalware Protection</a:t>
            </a:r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22.1.3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Host-Based Malware Protection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88620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9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baseline="0" dirty="0"/>
              <a:t>22</a:t>
            </a:r>
            <a:r>
              <a:rPr lang="en-US" sz="1200" b="0" dirty="0"/>
              <a:t>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r>
              <a:rPr lang="en-US" sz="1200" b="0" dirty="0">
                <a:solidFill>
                  <a:srgbClr val="FF0000"/>
                </a:solidFill>
              </a:rPr>
              <a:t>22.1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Antimalware Protection</a:t>
            </a:r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22.1.4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Network-Based Malware Protection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1121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10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baseline="0" dirty="0"/>
              <a:t>22</a:t>
            </a:r>
            <a:r>
              <a:rPr lang="en-US" sz="1200" b="0" dirty="0"/>
              <a:t>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r>
              <a:rPr lang="en-US" sz="1200" b="0" dirty="0">
                <a:solidFill>
                  <a:srgbClr val="FF0000"/>
                </a:solidFill>
              </a:rPr>
              <a:t>22.1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Antimalware Protection</a:t>
            </a:r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22.1.4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Network-Based Malware Protection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22.1.5 </a:t>
            </a:r>
            <a:r>
              <a:rPr lang="en-GB" dirty="0"/>
              <a:t>– 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Your Understanding - Identify Antimalware Terms and Concepts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01849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baseline="0" dirty="0"/>
              <a:t>Source:</a:t>
            </a:r>
          </a:p>
          <a:p>
            <a:r>
              <a:rPr lang="en-US" sz="1200" b="0" baseline="0" dirty="0"/>
              <a:t>22 </a:t>
            </a:r>
            <a:r>
              <a:rPr lang="en-GB" sz="1200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r>
              <a:rPr lang="en-US" sz="1200" b="0" dirty="0">
                <a:solidFill>
                  <a:srgbClr val="FF0000"/>
                </a:solidFill>
              </a:rPr>
              <a:t>22.2 </a:t>
            </a:r>
            <a:r>
              <a:rPr lang="en-GB" sz="1200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sz="1200" dirty="0"/>
              <a:t>Host-Based Intrusion Protection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b="1" u="sng" dirty="0"/>
              <a:t>In-Session Activities / Explanations:</a:t>
            </a: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Time:</a:t>
            </a:r>
            <a:r>
              <a:rPr lang="en-US" sz="1200" b="1" baseline="0" dirty="0"/>
              <a:t> </a:t>
            </a:r>
            <a:r>
              <a:rPr lang="en-US" sz="1200" b="0" baseline="0" dirty="0"/>
              <a:t>10</a:t>
            </a:r>
            <a:r>
              <a:rPr lang="en-US" sz="1200" dirty="0"/>
              <a:t> mins</a:t>
            </a:r>
            <a:endParaRPr lang="en-US" sz="1200" b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Instructor Notes: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host-based firewalls.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 an overview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 HIDS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Discuss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HIDS operation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 HIDS products</a:t>
            </a:r>
          </a:p>
          <a:p>
            <a:pPr marL="628650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Encourage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learners to complete the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CYU on Identify the Host-Based Intrusion Protection Terminology.</a:t>
            </a:r>
            <a:endParaRPr lang="en-US" sz="12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Key Points:</a:t>
            </a:r>
            <a:r>
              <a:rPr lang="en-US" sz="1200" b="1" baseline="0" dirty="0"/>
              <a:t> </a:t>
            </a:r>
            <a:r>
              <a:rPr lang="en-US" sz="1200" b="0" baseline="0" dirty="0"/>
              <a:t>Host-based Firewalls, HIDS, OSSEC</a:t>
            </a:r>
            <a:endParaRPr lang="en-US" sz="12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7078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12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baseline="0" dirty="0"/>
              <a:t>22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r>
              <a:rPr lang="en-US" sz="1200" b="0" dirty="0">
                <a:solidFill>
                  <a:srgbClr val="FF0000"/>
                </a:solidFill>
              </a:rPr>
              <a:t>22.2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dirty="0"/>
              <a:t>Host-Based Intrusion Protection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22.2.1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Host-Based Firewalls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8858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13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baseline="0" dirty="0"/>
              <a:t>22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r>
              <a:rPr lang="en-US" sz="1200" b="0" dirty="0">
                <a:solidFill>
                  <a:srgbClr val="FF0000"/>
                </a:solidFill>
              </a:rPr>
              <a:t>22.2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dirty="0"/>
              <a:t>Host-Based Intrusion Protection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22.2.2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Host-Based Intrusion Detection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69709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14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baseline="0" dirty="0"/>
              <a:t>22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r>
              <a:rPr lang="en-US" sz="1200" b="0" dirty="0">
                <a:solidFill>
                  <a:srgbClr val="FF0000"/>
                </a:solidFill>
              </a:rPr>
              <a:t>22.2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dirty="0"/>
              <a:t>Host-Based Intrusion Protection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22.2.3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HIDS Operation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83945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15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baseline="0" dirty="0"/>
              <a:t>22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r>
              <a:rPr lang="en-US" sz="1200" b="0" dirty="0">
                <a:solidFill>
                  <a:srgbClr val="FF0000"/>
                </a:solidFill>
              </a:rPr>
              <a:t>22.2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dirty="0"/>
              <a:t>Host-Based Intrusion Protection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22.2.4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HIDS Products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22.2.5 </a:t>
            </a:r>
            <a:r>
              <a:rPr lang="en-GB" dirty="0"/>
              <a:t>–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 your Understanding - Identify the Host-Based Intrusion Protection Terminology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4171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baseline="0" dirty="0"/>
              <a:t>Source:</a:t>
            </a:r>
          </a:p>
          <a:p>
            <a:r>
              <a:rPr lang="en-US" sz="1200" b="0" baseline="0" dirty="0"/>
              <a:t>22 </a:t>
            </a:r>
            <a:r>
              <a:rPr lang="en-GB" sz="1200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r>
              <a:rPr lang="en-US" sz="1200" b="0" dirty="0">
                <a:solidFill>
                  <a:srgbClr val="FF0000"/>
                </a:solidFill>
              </a:rPr>
              <a:t>22.3 </a:t>
            </a:r>
            <a:r>
              <a:rPr lang="en-GB" sz="1200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sz="1200" dirty="0"/>
              <a:t>Application Security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b="1" u="sng" dirty="0"/>
              <a:t>In-Session Activities / Explanations:</a:t>
            </a: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Time:</a:t>
            </a:r>
            <a:r>
              <a:rPr lang="en-US" sz="1200" b="1" baseline="0" dirty="0"/>
              <a:t> </a:t>
            </a:r>
            <a:r>
              <a:rPr lang="en-US" sz="1200" b="0" baseline="0" dirty="0"/>
              <a:t>10</a:t>
            </a:r>
            <a:r>
              <a:rPr lang="en-US" sz="1200" dirty="0"/>
              <a:t> mins</a:t>
            </a:r>
            <a:endParaRPr lang="en-US" sz="1200" b="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Instructor Notes: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Briefly explain attack surface.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Reinforce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difference between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blacklisting and whitelisting.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Encourage the learners to gather information on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Spamhaus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Project’ and present it in the class.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Describe system-based sandboxing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Key Points:</a:t>
            </a:r>
            <a:r>
              <a:rPr lang="en-US" sz="1200" b="1" baseline="0" dirty="0"/>
              <a:t> </a:t>
            </a:r>
            <a:r>
              <a:rPr lang="en-US" sz="1200" b="0" baseline="0" dirty="0"/>
              <a:t>Attack Surface</a:t>
            </a:r>
            <a:r>
              <a:rPr lang="en-US" sz="1200" b="1" baseline="0" dirty="0"/>
              <a:t>, </a:t>
            </a:r>
            <a:r>
              <a:rPr lang="en-US" sz="1200" b="0" baseline="0" dirty="0"/>
              <a:t>Blacklisting, Whitelisting, System-based Sandboxing </a:t>
            </a:r>
            <a:endParaRPr lang="en-US" sz="12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921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17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baseline="0" dirty="0"/>
              <a:t>22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r>
              <a:rPr lang="en-US" sz="1200" b="0" dirty="0">
                <a:solidFill>
                  <a:srgbClr val="FF0000"/>
                </a:solidFill>
              </a:rPr>
              <a:t>22.3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dirty="0"/>
              <a:t>Application Security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22.3.1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Attack Surface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45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18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baseline="0" dirty="0"/>
              <a:t>22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r>
              <a:rPr lang="en-US" sz="1200" b="0" dirty="0">
                <a:solidFill>
                  <a:srgbClr val="FF0000"/>
                </a:solidFill>
              </a:rPr>
              <a:t>22.3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dirty="0"/>
              <a:t>Application Security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22.3.2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 Blacklisting and Whitelisting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52501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19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baseline="0" dirty="0"/>
              <a:t>22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r>
              <a:rPr lang="en-US" sz="1200" b="0" dirty="0">
                <a:solidFill>
                  <a:srgbClr val="FF0000"/>
                </a:solidFill>
              </a:rPr>
              <a:t>22.3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dirty="0"/>
              <a:t>Application Security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22.3.2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 Blacklisting and Whitelisting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34376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20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baseline="0" dirty="0"/>
              <a:t>22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r>
              <a:rPr lang="en-US" sz="1200" b="0" dirty="0">
                <a:solidFill>
                  <a:srgbClr val="FF0000"/>
                </a:solidFill>
              </a:rPr>
              <a:t>22.3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dirty="0"/>
              <a:t>Application Security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22.3.3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System-Based Sandboxing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8492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21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baseline="0" dirty="0"/>
              <a:t>22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r>
              <a:rPr lang="en-US" sz="1200" b="0" dirty="0">
                <a:solidFill>
                  <a:srgbClr val="FF0000"/>
                </a:solidFill>
              </a:rPr>
              <a:t>22.3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dirty="0"/>
              <a:t>Application Security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22.3.4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Video - Using a Sandbox to Launch Malware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43234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baseline="0" dirty="0"/>
              <a:t>Source:</a:t>
            </a:r>
          </a:p>
          <a:p>
            <a:r>
              <a:rPr lang="en-US" sz="1200" b="0" baseline="0" dirty="0"/>
              <a:t>22 </a:t>
            </a:r>
            <a:r>
              <a:rPr lang="en-GB" sz="1200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r>
              <a:rPr lang="en-US" sz="1200" b="0" dirty="0">
                <a:solidFill>
                  <a:srgbClr val="FF0000"/>
                </a:solidFill>
              </a:rPr>
              <a:t>22.4 </a:t>
            </a:r>
            <a:r>
              <a:rPr lang="en-GB" sz="1200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 Summary</a:t>
            </a:r>
          </a:p>
          <a:p>
            <a:pPr>
              <a:buFontTx/>
              <a:buNone/>
            </a:pPr>
            <a:br>
              <a: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b="1" u="sng" dirty="0">
                <a:solidFill>
                  <a:prstClr val="black"/>
                </a:solidFill>
              </a:rPr>
              <a:t>In-Session Activities / Explanations:</a:t>
            </a:r>
            <a:endParaRPr lang="en-US" sz="1200" dirty="0">
              <a:solidFill>
                <a:prstClr val="black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prstClr val="black"/>
                </a:solidFill>
              </a:rPr>
              <a:t>Time: </a:t>
            </a:r>
            <a:r>
              <a:rPr lang="en-US" sz="1200" b="0" dirty="0">
                <a:solidFill>
                  <a:prstClr val="black"/>
                </a:solidFill>
              </a:rPr>
              <a:t>5</a:t>
            </a:r>
            <a:r>
              <a:rPr lang="en-US" sz="1200" dirty="0">
                <a:solidFill>
                  <a:prstClr val="black"/>
                </a:solidFill>
              </a:rPr>
              <a:t> mins</a:t>
            </a:r>
          </a:p>
          <a:p>
            <a:pPr marL="171450" lvl="0" indent="-171450">
              <a:buFont typeface="Arial" panose="020B0604020202020204" pitchFamily="34" charset="0"/>
              <a:buChar char="•"/>
              <a:tabLst>
                <a:tab pos="117475" algn="l"/>
              </a:tabLst>
            </a:pPr>
            <a:r>
              <a:rPr lang="en-US" sz="1200" b="1" dirty="0">
                <a:solidFill>
                  <a:prstClr val="black"/>
                </a:solidFill>
              </a:rPr>
              <a:t>Instructor Notes: </a:t>
            </a:r>
          </a:p>
          <a:p>
            <a:pPr marL="341313" lvl="1" indent="-171450" algn="l" defTabSz="457200" rtl="0" eaLnBrk="1" latinLnBrk="0" hangingPunct="1">
              <a:buFont typeface="Arial" panose="020B0604020202020204" pitchFamily="34" charset="0"/>
              <a:buChar char="•"/>
              <a:tabLst>
                <a:tab pos="117475" algn="l"/>
              </a:tabLst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 out the summary points mentioned on the slide.</a:t>
            </a:r>
          </a:p>
          <a:p>
            <a:pPr marL="341313" lvl="1" indent="-171450" algn="l" defTabSz="457200" rtl="0" eaLnBrk="1" latinLnBrk="0" hangingPunct="1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Discuss the same with the participants.</a:t>
            </a:r>
          </a:p>
          <a:p>
            <a:pPr marL="341313" lvl="1" indent="-171450" algn="l" defTabSz="457200" rtl="0" eaLnBrk="1" latinLnBrk="0" hangingPunct="1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Ask if they have any questions or doubts. </a:t>
            </a:r>
          </a:p>
          <a:p>
            <a:pPr marL="341313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Ensure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that the learners complete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module quiz.</a:t>
            </a:r>
          </a:p>
          <a:p>
            <a:pPr marL="171450" lvl="0" indent="-171450" algn="l" defTabSz="457200" rtl="0" eaLnBrk="1" latinLnBrk="0" hangingPunct="1">
              <a:buFont typeface="Arial" panose="020B0604020202020204" pitchFamily="34" charset="0"/>
              <a:buChar char="•"/>
              <a:tabLst>
                <a:tab pos="117475" algn="l"/>
              </a:tabLst>
            </a:pPr>
            <a:r>
              <a:rPr lang="en-US" sz="1200" b="1" kern="120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Key Points</a:t>
            </a:r>
            <a:r>
              <a:rPr lang="en-US" sz="1200" b="1" i="0" kern="120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:</a:t>
            </a:r>
            <a:r>
              <a:rPr lang="en-US" sz="1200" b="0" i="1" kern="1200" baseline="0" dirty="0">
                <a:solidFill>
                  <a:prstClr val="black"/>
                </a:solidFill>
                <a:latin typeface="+mn-lt"/>
                <a:ea typeface="+mn-ea"/>
                <a:cs typeface="+mn-cs"/>
              </a:rPr>
              <a:t> NA</a:t>
            </a:r>
            <a:endParaRPr lang="en-US" sz="12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sz="120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9869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23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1200" b="0" baseline="0" dirty="0"/>
              <a:t>22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r>
              <a:rPr lang="en-US" sz="1200" b="0" dirty="0">
                <a:solidFill>
                  <a:srgbClr val="FF0000"/>
                </a:solidFill>
              </a:rPr>
              <a:t>22.4 </a:t>
            </a:r>
            <a:r>
              <a:rPr lang="en-GB" dirty="0"/>
              <a:t>–</a:t>
            </a:r>
            <a:r>
              <a:rPr lang="en-US" sz="1200" b="0" dirty="0">
                <a:solidFill>
                  <a:srgbClr val="FF0000"/>
                </a:solidFill>
              </a:rPr>
              <a:t> </a:t>
            </a:r>
            <a:r>
              <a:rPr lang="en-US" dirty="0"/>
              <a:t>Endpoint Protection Summary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22.4.1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Did I Learn in this Module?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22.4.2 </a:t>
            </a:r>
            <a:r>
              <a:rPr lang="en-GB" dirty="0"/>
              <a:t>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Endpoint Protection Quiz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01208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baseline="0" dirty="0"/>
              <a:t>22 </a:t>
            </a:r>
            <a:r>
              <a:rPr lang="en-GB" dirty="0"/>
              <a:t>–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 Protection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charset="0"/>
              </a:rPr>
              <a:t>New Terms and Commands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2366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429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2020 Cisco and/or its affiliates. All rights reserved.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2020 Cisco and/or its affiliates. All rights reserved.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83759" y="1356508"/>
            <a:ext cx="7819480" cy="1215242"/>
          </a:xfrm>
        </p:spPr>
        <p:txBody>
          <a:bodyPr/>
          <a:lstStyle/>
          <a:p>
            <a:r>
              <a:rPr lang="en-US" dirty="0">
                <a:solidFill>
                  <a:srgbClr val="AFE8FB"/>
                </a:solidFill>
              </a:rPr>
              <a:t>Module 22</a:t>
            </a:r>
            <a:r>
              <a:rPr dirty="0">
                <a:solidFill>
                  <a:srgbClr val="AFE8FB"/>
                </a:solidFill>
              </a:rPr>
              <a:t>: </a:t>
            </a:r>
            <a:r>
              <a:rPr lang="en-US" dirty="0">
                <a:solidFill>
                  <a:srgbClr val="AFE8FB"/>
                </a:solidFill>
              </a:rPr>
              <a:t>Endpoint Protection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Instructor Materials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dirty="0" err="1">
                <a:solidFill>
                  <a:srgbClr val="AFE8FB"/>
                </a:solidFill>
              </a:rPr>
              <a:t>CyberOps</a:t>
            </a:r>
            <a:r>
              <a:rPr dirty="0">
                <a:solidFill>
                  <a:srgbClr val="AFE8FB"/>
                </a:solidFill>
              </a:rPr>
              <a:t> Associate</a:t>
            </a:r>
            <a:r>
              <a:rPr lang="en-IN" dirty="0">
                <a:solidFill>
                  <a:srgbClr val="AFE8FB"/>
                </a:solidFill>
              </a:rPr>
              <a:t> </a:t>
            </a:r>
            <a:r>
              <a:rPr dirty="0">
                <a:solidFill>
                  <a:srgbClr val="AFE8FB"/>
                </a:solidFill>
              </a:rPr>
              <a:t>v1.0</a:t>
            </a:r>
            <a:endParaRPr lang="en-US" dirty="0">
              <a:solidFill>
                <a:srgbClr val="AFE8FB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33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12812"/>
          </a:xfrm>
        </p:spPr>
        <p:txBody>
          <a:bodyPr/>
          <a:lstStyle/>
          <a:p>
            <a:pPr marL="85725" eaLnBrk="1" hangingPunct="1"/>
            <a:r>
              <a:rPr lang="en-US" dirty="0"/>
              <a:t>Module Objectives</a:t>
            </a:r>
          </a:p>
        </p:txBody>
      </p:sp>
      <p:sp>
        <p:nvSpPr>
          <p:cNvPr id="6147" name="Content Placeholder 34"/>
          <p:cNvSpPr>
            <a:spLocks noGrp="1" noChangeArrowheads="1"/>
          </p:cNvSpPr>
          <p:nvPr>
            <p:ph idx="1"/>
          </p:nvPr>
        </p:nvSpPr>
        <p:spPr>
          <a:xfrm>
            <a:off x="99461" y="654206"/>
            <a:ext cx="8731272" cy="1088869"/>
          </a:xfrm>
        </p:spPr>
        <p:txBody>
          <a:bodyPr/>
          <a:lstStyle/>
          <a:p>
            <a:pPr marL="0" lvl="0" indent="0" defTabSz="914400" ea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b="1" dirty="0">
                <a:ea typeface="Calibri" panose="020F0502020204030204" pitchFamily="34" charset="0"/>
                <a:cs typeface="Calibri" panose="020F0502020204030204" pitchFamily="34" charset="0"/>
              </a:rPr>
              <a:t>Module Title: </a:t>
            </a:r>
            <a:r>
              <a:rPr lang="en-US" sz="1600" dirty="0"/>
              <a:t>Endpoint Protection</a:t>
            </a:r>
            <a:endParaRPr lang="en-US" alt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defTabSz="914400" ea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/>
          </a:p>
          <a:p>
            <a:pPr marL="0" indent="0" defTabSz="914400" ea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b="1" dirty="0">
                <a:ea typeface="Calibri" panose="020F0502020204030204" pitchFamily="34" charset="0"/>
                <a:cs typeface="Calibri" panose="020F0502020204030204" pitchFamily="34" charset="0"/>
              </a:rPr>
              <a:t>Module Objective</a:t>
            </a:r>
            <a:r>
              <a:rPr lang="en-US" altLang="en-US" sz="1600" dirty="0"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600" dirty="0"/>
              <a:t>Explain how a malware analysis website generates a malware analysis report.</a:t>
            </a:r>
            <a:endParaRPr lang="en-US" altLang="en-US" sz="1600" dirty="0"/>
          </a:p>
          <a:p>
            <a:pPr marL="0" indent="0">
              <a:spcBef>
                <a:spcPct val="30000"/>
              </a:spcBef>
              <a:buNone/>
            </a:pPr>
            <a:endParaRPr lang="en-US" sz="1600" dirty="0"/>
          </a:p>
          <a:p>
            <a:pPr marL="89297" indent="0">
              <a:spcBef>
                <a:spcPct val="30000"/>
              </a:spcBef>
              <a:buNone/>
            </a:pPr>
            <a:endParaRPr lang="en-US" sz="1600" dirty="0"/>
          </a:p>
          <a:p>
            <a:pPr marL="89297" indent="0">
              <a:spcBef>
                <a:spcPct val="30000"/>
              </a:spcBef>
              <a:buNone/>
            </a:pPr>
            <a:endParaRPr lang="en-US" sz="16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A7BDDD-C170-4E29-89CF-3F60A2A8E5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391512"/>
              </p:ext>
            </p:extLst>
          </p:nvPr>
        </p:nvGraphicFramePr>
        <p:xfrm>
          <a:off x="557212" y="1926597"/>
          <a:ext cx="6938858" cy="1453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8551">
                  <a:extLst>
                    <a:ext uri="{9D8B030D-6E8A-4147-A177-3AD203B41FA5}">
                      <a16:colId xmlns:a16="http://schemas.microsoft.com/office/drawing/2014/main" val="975080057"/>
                    </a:ext>
                  </a:extLst>
                </a:gridCol>
                <a:gridCol w="4220307">
                  <a:extLst>
                    <a:ext uri="{9D8B030D-6E8A-4147-A177-3AD203B41FA5}">
                      <a16:colId xmlns:a16="http://schemas.microsoft.com/office/drawing/2014/main" val="2701515289"/>
                    </a:ext>
                  </a:extLst>
                </a:gridCol>
              </a:tblGrid>
              <a:tr h="290431"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Topic</a:t>
                      </a:r>
                      <a:endParaRPr lang="en-US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Topic Objective</a:t>
                      </a:r>
                      <a:endParaRPr lang="en-US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522642502"/>
                  </a:ext>
                </a:extLst>
              </a:tr>
              <a:tr h="314367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Antimalware Protection</a:t>
                      </a:r>
                    </a:p>
                  </a:txBody>
                  <a:tcPr marL="47625" marR="47625" marT="47625" marB="47625" anchor="ctr">
                    <a:solidFill>
                      <a:srgbClr val="004C6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>
                          <a:effectLst/>
                        </a:rPr>
                        <a:t>Explain methods of mitigating malware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94353660"/>
                  </a:ext>
                </a:extLst>
              </a:tr>
              <a:tr h="331595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Host-based Intrusion Prevention</a:t>
                      </a:r>
                    </a:p>
                  </a:txBody>
                  <a:tcPr marL="47625" marR="47625" marT="47625" marB="47625" anchor="ctr">
                    <a:solidFill>
                      <a:srgbClr val="004C6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>
                          <a:effectLst/>
                        </a:rPr>
                        <a:t>Explain host-based IPS/IDS log entries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460250636"/>
                  </a:ext>
                </a:extLst>
              </a:tr>
              <a:tr h="291403">
                <a:tc>
                  <a:txBody>
                    <a:bodyPr/>
                    <a:lstStyle/>
                    <a:p>
                      <a:pPr marL="0" algn="l" defTabSz="685777" rtl="0" eaLnBrk="1" fontAlgn="ctr" latinLnBrk="0" hangingPunct="1"/>
                      <a:r>
                        <a:rPr lang="en-US" sz="1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 Security</a:t>
                      </a:r>
                    </a:p>
                  </a:txBody>
                  <a:tcPr marL="47625" marR="47625" marT="47625" marB="47625" anchor="ctr">
                    <a:solidFill>
                      <a:srgbClr val="004C69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b="0" dirty="0">
                          <a:effectLst/>
                        </a:rPr>
                        <a:t>Explain how a sandbox is used to analyze malware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04502938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8189466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504" y="1353787"/>
            <a:ext cx="8858992" cy="1364012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22.1 Antimalware Protection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Endpoint Protection</a:t>
            </a:r>
            <a:br>
              <a:rPr altLang="en-US" dirty="0"/>
            </a:br>
            <a:r>
              <a:rPr lang="en-US" dirty="0"/>
              <a:t>Endpoint Threats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798944"/>
            <a:ext cx="4172213" cy="3829327"/>
          </a:xfrm>
        </p:spPr>
        <p:txBody>
          <a:bodyPr/>
          <a:lstStyle/>
          <a:p>
            <a:pPr marL="166688" indent="-166688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itchFamily="34" charset="0"/>
              <a:buChar char="•"/>
            </a:pPr>
            <a:r>
              <a:rPr lang="en-US" sz="1600" dirty="0"/>
              <a:t>Endpoints can be defined as hosts on the network that can access or be accessed by other hosts on the network.</a:t>
            </a:r>
          </a:p>
          <a:p>
            <a:pPr marL="166688" indent="-166688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itchFamily="34" charset="0"/>
              <a:buChar char="•"/>
            </a:pPr>
            <a:r>
              <a:rPr lang="en-US" sz="1600" dirty="0"/>
              <a:t>Each endpoint is potentially a way for malicious software to gain access to a network.</a:t>
            </a:r>
          </a:p>
          <a:p>
            <a:pPr marL="166688" indent="-166688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itchFamily="34" charset="0"/>
              <a:buChar char="•"/>
            </a:pPr>
            <a:r>
              <a:rPr lang="en-US" sz="1600" dirty="0"/>
              <a:t>Devices that remotely access networks through VPNs are also endpoints that could inject malware into the VPN network from the public network.</a:t>
            </a:r>
          </a:p>
          <a:p>
            <a:pPr marL="166688" indent="-166688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itchFamily="34" charset="0"/>
              <a:buChar char="•"/>
            </a:pPr>
            <a:r>
              <a:rPr lang="en-US" sz="1600" dirty="0"/>
              <a:t>Several common types of malware have been found to significantly change features in less than 24 hours in order to evade detection.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ClrTx/>
              <a:buSzPct val="100000"/>
              <a:buNone/>
            </a:pP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8A91CD-F621-4E89-99F1-CC687DC94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6878" y="927208"/>
            <a:ext cx="4454532" cy="347205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5" name="Text Box 6">
            <a:extLst>
              <a:ext uri="{FF2B5EF4-FFF2-40B4-BE49-F238E27FC236}">
                <a16:creationId xmlns:a16="http://schemas.microsoft.com/office/drawing/2014/main" id="{FA790B81-E4E0-4344-97EE-4F837FB36190}"/>
              </a:ext>
            </a:extLst>
          </p:cNvPr>
          <p:cNvSpPr/>
          <p:nvPr/>
        </p:nvSpPr>
        <p:spPr>
          <a:xfrm>
            <a:off x="4446878" y="4417599"/>
            <a:ext cx="445453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+mn-lt"/>
              </a:rPr>
              <a:t>Malicious Spam Percentage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247823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Endpoint Protection</a:t>
            </a:r>
            <a:br>
              <a:rPr altLang="en-US" dirty="0"/>
            </a:br>
            <a:r>
              <a:rPr lang="en-US" dirty="0"/>
              <a:t>Endpoint Security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6056" y="698207"/>
            <a:ext cx="4544174" cy="3943744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As many attacks originate from inside the network, securing an internal LAN is nearly as important as securing the outside network perimeter.	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After an internal host is infiltrated, it can become a starting point for an attacker to gain access to critical system devices, such as servers and sensitive information.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There are two internal LAN elements to secure:</a:t>
            </a:r>
          </a:p>
          <a:p>
            <a:pPr marL="361950" indent="-185738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b="1" dirty="0"/>
              <a:t>Endpoints </a:t>
            </a:r>
            <a:r>
              <a:rPr lang="en-US" sz="1600" dirty="0"/>
              <a:t>-</a:t>
            </a:r>
            <a:r>
              <a:rPr lang="en-US" sz="1600" b="1" dirty="0"/>
              <a:t> </a:t>
            </a:r>
            <a:r>
              <a:rPr lang="en-US" sz="1600" dirty="0"/>
              <a:t>Hosts are susceptible to malware-related attacks.</a:t>
            </a:r>
          </a:p>
          <a:p>
            <a:pPr marL="361950" indent="-185738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b="1" dirty="0"/>
              <a:t>Network infrastructure </a:t>
            </a:r>
            <a:r>
              <a:rPr lang="en-US" sz="1600" dirty="0"/>
              <a:t>-</a:t>
            </a:r>
            <a:r>
              <a:rPr lang="en-US" sz="1600" b="1" dirty="0"/>
              <a:t> </a:t>
            </a:r>
            <a:r>
              <a:rPr lang="en-US" sz="1600" dirty="0"/>
              <a:t>LAN infrastructure devices interconnect endpoints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CB0A4A-2D4C-45B8-ADD4-25C81CDE6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113" y="823929"/>
            <a:ext cx="4537516" cy="34281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5704795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Endpoint Protection</a:t>
            </a:r>
            <a:br>
              <a:rPr altLang="en-US" dirty="0"/>
            </a:br>
            <a:r>
              <a:rPr lang="en-US" dirty="0"/>
              <a:t>Host-Based Malware Protection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4" y="798944"/>
            <a:ext cx="8999935" cy="3829327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Host-based antimalware/antivirus software and host-based firewalls are used to protect mobile devices using VPN.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ClrTx/>
              <a:buSzPct val="100000"/>
              <a:buNone/>
            </a:pPr>
            <a:r>
              <a:rPr lang="en-US" sz="1600" b="1" dirty="0"/>
              <a:t>Antivirus/Antimalware Software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It is a software that is installed on a host to detect and mitigate viruses and malware. For example, Windows Defender Virus &amp; Threat Protection, Cisco AMP for Endpoints, Norton Security, McAfee, Trend Micro, and others. 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Antimalware programs may detect viruses using three different approaches:</a:t>
            </a:r>
          </a:p>
          <a:p>
            <a:pPr marL="361950" indent="-174625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b="1" dirty="0"/>
              <a:t>Signature-based:</a:t>
            </a:r>
            <a:r>
              <a:rPr lang="en-US" sz="1600" dirty="0"/>
              <a:t> Recognizes various characteristics of known malware files</a:t>
            </a:r>
          </a:p>
          <a:p>
            <a:pPr marL="361950" indent="-174625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b="1" dirty="0"/>
              <a:t>Heuristics-based:</a:t>
            </a:r>
            <a:r>
              <a:rPr lang="en-US" sz="1600" dirty="0"/>
              <a:t> Recognizes general features shared by various types of malware</a:t>
            </a:r>
          </a:p>
          <a:p>
            <a:pPr marL="361950" indent="-174625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b="1" dirty="0"/>
              <a:t>Behavior-based:</a:t>
            </a:r>
            <a:r>
              <a:rPr lang="en-US" sz="1600" dirty="0"/>
              <a:t> Employs analysis of suspicious behavior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Host-based antivirus protection, also known as agent-based, runs on every protected machine.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9423427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Endpoint Protection</a:t>
            </a:r>
            <a:br>
              <a:rPr altLang="en-US" dirty="0"/>
            </a:br>
            <a:r>
              <a:rPr lang="en-US" dirty="0"/>
              <a:t>Host-Based Malware Protection (Contd.)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6" y="798944"/>
            <a:ext cx="3885494" cy="3829327"/>
          </a:xfrm>
        </p:spPr>
        <p:txBody>
          <a:bodyPr/>
          <a:lstStyle/>
          <a:p>
            <a:pPr marL="0" indent="0">
              <a:spcBef>
                <a:spcPts val="300"/>
              </a:spcBef>
              <a:spcAft>
                <a:spcPts val="300"/>
              </a:spcAft>
              <a:buClrTx/>
              <a:buSzPct val="100000"/>
              <a:buNone/>
            </a:pPr>
            <a:r>
              <a:rPr lang="en-US" sz="1600" b="1" dirty="0"/>
              <a:t>Host-based Firewall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This software is installed on a host.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It restricts incoming and outgoing connections to connections initiated by that host only.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Some firewall software can prevent a host from becoming infected and stop infected hosts from spreading malware to other hosts. This function is included in some operating systems.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For example, Windows includes Windows Defender Firewall with Advanced Security. </a:t>
            </a:r>
            <a:endParaRPr lang="en-US" sz="1600" b="1" dirty="0"/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309" y="1039998"/>
            <a:ext cx="5006476" cy="3652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952319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Endpoint Protection</a:t>
            </a:r>
            <a:br>
              <a:rPr altLang="en-US" dirty="0"/>
            </a:br>
            <a:r>
              <a:rPr lang="en-US" dirty="0"/>
              <a:t>Host-Based Malware Protection (Contd.)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798944"/>
            <a:ext cx="8853286" cy="3829327"/>
          </a:xfrm>
        </p:spPr>
        <p:txBody>
          <a:bodyPr/>
          <a:lstStyle/>
          <a:p>
            <a:pPr marL="0" indent="0">
              <a:spcBef>
                <a:spcPts val="300"/>
              </a:spcBef>
              <a:spcAft>
                <a:spcPts val="300"/>
              </a:spcAft>
              <a:buClrTx/>
              <a:buSzPct val="100000"/>
              <a:buNone/>
            </a:pPr>
            <a:r>
              <a:rPr lang="en-US" sz="1600" b="1" dirty="0"/>
              <a:t>Host-based Security Suites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It is recommended to install a host-based suite of security products on home and business networks to provide a layered defense that will protect against most common threats.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These include antivirus, anti-phishing, safe browsing, Host-based intrusion prevention system, and firewall capabilities. 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Host-based security products also provide telemetry function.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Most host-based security software includes robust logging functionality that is essential to cyber security operations. 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The independent testing laboratory AV-TEST provides high-quality reviews of host-based protections, as well as information about many other security products.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453798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Endpoint Protection</a:t>
            </a:r>
            <a:br>
              <a:rPr altLang="en-US" dirty="0"/>
            </a:br>
            <a:r>
              <a:rPr lang="en-US" dirty="0"/>
              <a:t>Network-Based Malware Protection</a:t>
            </a:r>
          </a:p>
        </p:txBody>
      </p:sp>
      <p:sp>
        <p:nvSpPr>
          <p:cNvPr id="4" name="Content Placeholder  1"/>
          <p:cNvSpPr txBox="1"/>
          <p:nvPr/>
        </p:nvSpPr>
        <p:spPr>
          <a:xfrm>
            <a:off x="144065" y="772963"/>
            <a:ext cx="877521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00025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Network-based malware prevention devices are capable of sharing information among themselves to make better informed decisions.</a:t>
            </a:r>
          </a:p>
          <a:p>
            <a:pPr marL="285750" indent="-200025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Protecting endpoints in a borderless network can be accomplished using network-based, as well as host-based techniques.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" t="1900" r="889" b="3076"/>
          <a:stretch/>
        </p:blipFill>
        <p:spPr bwMode="auto">
          <a:xfrm>
            <a:off x="1468464" y="1963455"/>
            <a:ext cx="6532536" cy="2474164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Text Box 1">
            <a:extLst>
              <a:ext uri="{FF2B5EF4-FFF2-40B4-BE49-F238E27FC236}">
                <a16:creationId xmlns:a16="http://schemas.microsoft.com/office/drawing/2014/main" id="{2985BFD3-4F44-44CC-BC43-E2A3E46D7334}"/>
              </a:ext>
            </a:extLst>
          </p:cNvPr>
          <p:cNvSpPr/>
          <p:nvPr/>
        </p:nvSpPr>
        <p:spPr>
          <a:xfrm>
            <a:off x="1468464" y="4446355"/>
            <a:ext cx="65325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+mn-lt"/>
              </a:rPr>
              <a:t>Advanced Malware Protection Everywhere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3471392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Endpoint Protection</a:t>
            </a:r>
            <a:br>
              <a:rPr altLang="en-US" dirty="0"/>
            </a:br>
            <a:r>
              <a:rPr lang="en-US" dirty="0"/>
              <a:t>Network-Based Malware Protection (Contd.)</a:t>
            </a:r>
          </a:p>
        </p:txBody>
      </p:sp>
      <p:sp>
        <p:nvSpPr>
          <p:cNvPr id="3" name="Content Placeholder 1"/>
          <p:cNvSpPr/>
          <p:nvPr/>
        </p:nvSpPr>
        <p:spPr>
          <a:xfrm>
            <a:off x="162732" y="681931"/>
            <a:ext cx="8806915" cy="464946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0000"/>
                </a:solidFill>
              </a:rPr>
              <a:t>Some examples of devices and techniques that implement host protections at the network level:</a:t>
            </a:r>
          </a:p>
        </p:txBody>
      </p:sp>
      <p:sp>
        <p:nvSpPr>
          <p:cNvPr id="2" name="Content Placeholder 2"/>
          <p:cNvSpPr>
            <a:spLocks noGrp="1"/>
          </p:cNvSpPr>
          <p:nvPr>
            <p:ph idx="1"/>
          </p:nvPr>
        </p:nvSpPr>
        <p:spPr>
          <a:xfrm>
            <a:off x="89823" y="1099010"/>
            <a:ext cx="4554210" cy="3036885"/>
          </a:xfrm>
        </p:spPr>
        <p:txBody>
          <a:bodyPr/>
          <a:lstStyle/>
          <a:p>
            <a:pPr marL="452438" indent="-285750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b="1" dirty="0"/>
              <a:t>Advanced Malware Protection (AMP) </a:t>
            </a:r>
            <a:r>
              <a:rPr lang="en-US" sz="1600" dirty="0"/>
              <a:t>- Provides endpoint protection from viruses and malware.</a:t>
            </a:r>
          </a:p>
          <a:p>
            <a:pPr marL="452438" indent="-285750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b="1" dirty="0"/>
              <a:t>Email Security Appliance (ESA) </a:t>
            </a:r>
            <a:r>
              <a:rPr lang="en-US" sz="1600" dirty="0"/>
              <a:t>-</a:t>
            </a:r>
            <a:r>
              <a:rPr lang="en-US" sz="1600" b="1" dirty="0"/>
              <a:t> </a:t>
            </a:r>
            <a:r>
              <a:rPr lang="en-US" sz="1600" dirty="0"/>
              <a:t>Provides filtering of SPAM and potentially malicious emails before they reach the endpoint. </a:t>
            </a:r>
          </a:p>
          <a:p>
            <a:pPr marL="452438" indent="-285750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b="1" dirty="0"/>
              <a:t>Web Security Appliance (WSA) </a:t>
            </a:r>
            <a:r>
              <a:rPr lang="en-US" sz="1600" dirty="0"/>
              <a:t>-</a:t>
            </a:r>
            <a:r>
              <a:rPr lang="en-US" sz="1600" b="1" dirty="0"/>
              <a:t> </a:t>
            </a:r>
            <a:r>
              <a:rPr lang="en-US" sz="1600" dirty="0"/>
              <a:t>Provides filtering of websites and blacklisting </a:t>
            </a:r>
          </a:p>
          <a:p>
            <a:pPr marL="452438" indent="-285750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b="1" dirty="0"/>
              <a:t>Network Admission Control (NAC) </a:t>
            </a:r>
            <a:r>
              <a:rPr lang="en-US" sz="1600" dirty="0"/>
              <a:t>-</a:t>
            </a:r>
            <a:r>
              <a:rPr lang="en-US" sz="1600" b="1" dirty="0"/>
              <a:t> </a:t>
            </a:r>
            <a:r>
              <a:rPr lang="en-US" sz="1600" dirty="0"/>
              <a:t>Permits only authorized and compliant systems to connect to the network.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ClrTx/>
              <a:buSzPct val="100000"/>
              <a:buNone/>
            </a:pPr>
            <a:endParaRPr lang="en-US" sz="1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2259" y="1242142"/>
            <a:ext cx="4587504" cy="3091578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57618071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539" y="1889744"/>
            <a:ext cx="8858992" cy="1364012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22.2 Host-Based Intrusion Protection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869108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Host-Based Intrusion Protection</a:t>
            </a:r>
            <a:br>
              <a:rPr altLang="en-US" dirty="0"/>
            </a:br>
            <a:r>
              <a:rPr lang="en-US" dirty="0"/>
              <a:t>Host-Based Firewalls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798944"/>
            <a:ext cx="8868199" cy="3829327"/>
          </a:xfrm>
        </p:spPr>
        <p:txBody>
          <a:bodyPr/>
          <a:lstStyle/>
          <a:p>
            <a:pPr>
              <a:spcBef>
                <a:spcPts val="400"/>
              </a:spcBef>
              <a:spcAft>
                <a:spcPts val="4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Host-based personal firewalls are standalone software programs that control traffic entering or leaving a computer. </a:t>
            </a:r>
          </a:p>
          <a:p>
            <a:pPr>
              <a:spcBef>
                <a:spcPts val="400"/>
              </a:spcBef>
              <a:spcAft>
                <a:spcPts val="4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Host-based firewall applications can also be configured to issue alerts to users if suspicious behavior is detected. </a:t>
            </a:r>
          </a:p>
          <a:p>
            <a:pPr>
              <a:spcBef>
                <a:spcPts val="400"/>
              </a:spcBef>
              <a:spcAft>
                <a:spcPts val="4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Some examples of host-based firewalls:</a:t>
            </a:r>
          </a:p>
          <a:p>
            <a:pPr marL="361950" indent="-176213">
              <a:spcBef>
                <a:spcPts val="400"/>
              </a:spcBef>
              <a:spcAft>
                <a:spcPts val="4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b="1" dirty="0"/>
              <a:t>Windows Defender Firewall</a:t>
            </a:r>
            <a:r>
              <a:rPr lang="en-US" sz="1600" dirty="0"/>
              <a:t> – First included with Windows XP, Windows Firewall (now Windows Defender Firewall) uses a profile-based approach to firewall functionality. </a:t>
            </a:r>
          </a:p>
          <a:p>
            <a:pPr marL="361950" indent="-176213">
              <a:spcBef>
                <a:spcPts val="400"/>
              </a:spcBef>
              <a:spcAft>
                <a:spcPts val="4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b="1" dirty="0" err="1"/>
              <a:t>iptables</a:t>
            </a:r>
            <a:r>
              <a:rPr lang="en-US" sz="1600" dirty="0"/>
              <a:t> – This is an application that allows Linux system administrators to configure network access rules that are part of the Linux kernel </a:t>
            </a:r>
            <a:r>
              <a:rPr lang="en-US" sz="1600" dirty="0" err="1"/>
              <a:t>Netfilter</a:t>
            </a:r>
            <a:r>
              <a:rPr lang="en-US" sz="1600" dirty="0"/>
              <a:t> modules.</a:t>
            </a:r>
          </a:p>
          <a:p>
            <a:pPr marL="361950" indent="-176213">
              <a:spcBef>
                <a:spcPts val="400"/>
              </a:spcBef>
              <a:spcAft>
                <a:spcPts val="4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b="1" dirty="0" err="1"/>
              <a:t>nftables</a:t>
            </a:r>
            <a:r>
              <a:rPr lang="en-US" sz="1600" dirty="0"/>
              <a:t> – The successor to </a:t>
            </a:r>
            <a:r>
              <a:rPr lang="en-US" sz="1600" dirty="0" err="1"/>
              <a:t>iptables</a:t>
            </a:r>
            <a:r>
              <a:rPr lang="en-US" sz="1600" dirty="0"/>
              <a:t>, </a:t>
            </a:r>
            <a:r>
              <a:rPr lang="en-US" sz="1600" dirty="0" err="1"/>
              <a:t>nftables</a:t>
            </a:r>
            <a:r>
              <a:rPr lang="en-US" sz="1600" dirty="0"/>
              <a:t> is a Linux firewall application that uses a simple virtual machine in the Linux kernel. </a:t>
            </a:r>
          </a:p>
          <a:p>
            <a:pPr marL="361950" indent="-176213">
              <a:spcBef>
                <a:spcPts val="400"/>
              </a:spcBef>
              <a:spcAft>
                <a:spcPts val="4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b="1" dirty="0"/>
              <a:t>TCP Wrappers</a:t>
            </a:r>
            <a:r>
              <a:rPr lang="en-US" sz="1600" dirty="0"/>
              <a:t> – This is a rule-based access control and logging system for Linux.</a:t>
            </a:r>
          </a:p>
          <a:p>
            <a:pPr>
              <a:spcBef>
                <a:spcPts val="400"/>
              </a:spcBef>
              <a:spcAft>
                <a:spcPts val="400"/>
              </a:spcAft>
              <a:buClrTx/>
              <a:buSzPct val="100000"/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459490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Host-Based Intrusion Protection</a:t>
            </a:r>
            <a:br>
              <a:rPr altLang="en-US" dirty="0"/>
            </a:br>
            <a:r>
              <a:rPr lang="en-US" dirty="0"/>
              <a:t>Host-Based Intrusion Detection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0559" y="721454"/>
            <a:ext cx="3893244" cy="3964125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A Host-based Intrusion Detection System (HIDS) is designed to protect hosts against known and unknown malware.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A HIDS can perform detailed monitoring and reporting on the system configuration and application activity. 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600" dirty="0"/>
              <a:t>HIDS is a comprehensive security application that combines the functionalities of antimalware applications with firewall functionality.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600" dirty="0"/>
              <a:t>As HIDS must run directly on the host, it is considered as an agent-based system.</a:t>
            </a:r>
            <a:endParaRPr lang="en-US" sz="1600" dirty="0"/>
          </a:p>
        </p:txBody>
      </p:sp>
      <p:sp>
        <p:nvSpPr>
          <p:cNvPr id="8" name="Content Placeholder 7"/>
          <p:cNvSpPr/>
          <p:nvPr/>
        </p:nvSpPr>
        <p:spPr>
          <a:xfrm>
            <a:off x="4039891" y="4244786"/>
            <a:ext cx="4971704" cy="42695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0000"/>
                </a:solidFill>
              </a:rPr>
              <a:t>Host-based Intrusion Detection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5FD0C1-180D-46A7-BB4D-045D80AEE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9891" y="884473"/>
            <a:ext cx="4971704" cy="338356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07910755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Host-Based Intrusion Protection</a:t>
            </a:r>
            <a:br>
              <a:rPr altLang="en-US" dirty="0"/>
            </a:br>
            <a:r>
              <a:rPr lang="en-US" dirty="0"/>
              <a:t>HIDS Operation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9381" y="811574"/>
            <a:ext cx="8853286" cy="3964125"/>
          </a:xfrm>
        </p:spPr>
        <p:txBody>
          <a:bodyPr/>
          <a:lstStyle/>
          <a:p>
            <a:pPr>
              <a:spcBef>
                <a:spcPts val="500"/>
              </a:spcBef>
              <a:spcAft>
                <a:spcPts val="5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A HIDS can prevent intrusion because it uses signatures to detect known malware and prevent it from infecting a system.</a:t>
            </a:r>
          </a:p>
          <a:p>
            <a:pPr>
              <a:spcBef>
                <a:spcPts val="500"/>
              </a:spcBef>
              <a:spcAft>
                <a:spcPts val="5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Some malware families exhibit polymorphism.</a:t>
            </a:r>
          </a:p>
          <a:p>
            <a:pPr>
              <a:spcBef>
                <a:spcPts val="500"/>
              </a:spcBef>
              <a:spcAft>
                <a:spcPts val="5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An additional set of strategies are used to detect the possibility of successful intrusions by malware that evades signature detection:</a:t>
            </a:r>
          </a:p>
          <a:p>
            <a:pPr marL="361950" indent="-176213">
              <a:spcBef>
                <a:spcPts val="500"/>
              </a:spcBef>
              <a:spcAft>
                <a:spcPts val="5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b="1" dirty="0"/>
              <a:t>Anomaly based </a:t>
            </a:r>
            <a:r>
              <a:rPr lang="en-US" sz="1600" dirty="0"/>
              <a:t>- Host system behavior is compared to a learned baseline model of normal behavior. </a:t>
            </a:r>
            <a:r>
              <a:rPr lang="en-IN" sz="1600" dirty="0"/>
              <a:t>If an intrusion is detected, the HIDS can log details of the intrusion, send alerts to security management systems, and take action to prevent the attack. </a:t>
            </a:r>
            <a:endParaRPr lang="en-US" sz="1600" dirty="0"/>
          </a:p>
          <a:p>
            <a:pPr marL="361950" indent="-176213">
              <a:spcBef>
                <a:spcPts val="500"/>
              </a:spcBef>
              <a:spcAft>
                <a:spcPts val="5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b="1" dirty="0"/>
              <a:t>Policy based </a:t>
            </a:r>
            <a:r>
              <a:rPr lang="en-US" sz="1600" dirty="0"/>
              <a:t>- Normal system behavior is described by rules, or the violation of rules, that are predefined. </a:t>
            </a:r>
            <a:r>
              <a:rPr lang="en-IN" sz="1600" dirty="0"/>
              <a:t>Violation of these policies will result in action by the HIDS, such as shut down of software processes.</a:t>
            </a: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9173440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Host-Based Intrusion Protection</a:t>
            </a:r>
            <a:br>
              <a:rPr altLang="en-US" dirty="0"/>
            </a:br>
            <a:r>
              <a:rPr lang="en-US" dirty="0"/>
              <a:t>HIDS Products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065" y="798944"/>
            <a:ext cx="8853286" cy="3964125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Most of the HIDS utilize software on the host and some sort of centralized security management functionality that allows integration with network security monitoring services and threat intelligence. 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Some examples are Cisco AMP, AlienVault USM, Tripwire, and Open Source HIDS SECurity (OSSEC).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OSSEC uses a central manager server and agents that are installed on individual hosts.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The OSSEC server, or Manager, can also receive and analyze alerts from a variety of network devices and firewalls over syslog.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OSSEC monitors system logs on hosts and also conducts file integrity checking.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3246168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4002" y="1393980"/>
            <a:ext cx="8519176" cy="1364012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22.3 Application Security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5676913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55617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Application Security</a:t>
            </a:r>
            <a:br>
              <a:rPr altLang="en-US" dirty="0"/>
            </a:br>
            <a:r>
              <a:rPr lang="en-US" dirty="0"/>
              <a:t>Attack Surface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83546" y="695752"/>
            <a:ext cx="4001735" cy="3937313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An attack surface is the total sum of the vulnerabilities in a given system that is accessible to an attacker.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600" dirty="0"/>
              <a:t>It can consist of open ports on servers or hosts, software running on internet-facing servers, wireless network protocols, and users.</a:t>
            </a:r>
            <a:endParaRPr lang="en-US" sz="1600" dirty="0"/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Components of the Attack Surface:</a:t>
            </a:r>
          </a:p>
          <a:p>
            <a:pPr marL="533400" indent="-177800">
              <a:spcBef>
                <a:spcPts val="100"/>
              </a:spcBef>
              <a:spcAft>
                <a:spcPts val="1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b="1" dirty="0"/>
              <a:t>Network Attack Surface:</a:t>
            </a:r>
            <a:r>
              <a:rPr lang="en-US" sz="1600" dirty="0"/>
              <a:t> Exploits vulnerabilities in networks. </a:t>
            </a:r>
          </a:p>
          <a:p>
            <a:pPr marL="533400" indent="-177800">
              <a:spcBef>
                <a:spcPts val="100"/>
              </a:spcBef>
              <a:spcAft>
                <a:spcPts val="1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b="1" dirty="0"/>
              <a:t>Software Attack Surface:</a:t>
            </a:r>
            <a:r>
              <a:rPr lang="en-US" sz="1600" dirty="0"/>
              <a:t> Delivered through exploitation of vulnerabilities in web, cloud, or host-based software applications.</a:t>
            </a:r>
          </a:p>
          <a:p>
            <a:pPr marL="533400" indent="-177800">
              <a:spcBef>
                <a:spcPts val="100"/>
              </a:spcBef>
              <a:spcAft>
                <a:spcPts val="1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b="1" dirty="0"/>
              <a:t>Human Attack Surface:</a:t>
            </a:r>
            <a:r>
              <a:rPr lang="en-US" sz="1600" dirty="0"/>
              <a:t> Exploits weaknesses in user behavior.</a:t>
            </a:r>
            <a:endParaRPr lang="en-US" dirty="0"/>
          </a:p>
          <a:p>
            <a:pPr marL="188912" lvl="1" indent="0">
              <a:buClrTx/>
              <a:buSzPct val="100000"/>
              <a:buNone/>
            </a:pPr>
            <a:endParaRPr lang="en-US" dirty="0"/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34E6C2-19E8-48C8-9EA5-0467ED6EF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8681" y="809812"/>
            <a:ext cx="4737298" cy="306896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4" name="Text Box 1">
            <a:extLst>
              <a:ext uri="{FF2B5EF4-FFF2-40B4-BE49-F238E27FC236}">
                <a16:creationId xmlns:a16="http://schemas.microsoft.com/office/drawing/2014/main" id="{5F41AFC5-F444-4B4D-ADDF-4063655015AD}"/>
              </a:ext>
            </a:extLst>
          </p:cNvPr>
          <p:cNvSpPr/>
          <p:nvPr/>
        </p:nvSpPr>
        <p:spPr>
          <a:xfrm>
            <a:off x="4138681" y="3973555"/>
            <a:ext cx="47372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+mn-lt"/>
              </a:rPr>
              <a:t>An Expanding Attack Surface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9443044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Application Security</a:t>
            </a:r>
            <a:br>
              <a:rPr altLang="en-US" dirty="0"/>
            </a:br>
            <a:r>
              <a:rPr lang="en-US" dirty="0"/>
              <a:t>Application Blacklisting and Whitelisting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1141" y="828666"/>
            <a:ext cx="3667937" cy="3829327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Limiting access to potential threats by creating lists of prohibited applications is known as blacklisting.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Application blacklists can dictate which user applications are not permitted to run on a computer. 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Whitelists specify which programs are allowed to run. 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600" dirty="0"/>
              <a:t>In this way, known vulnerable applications can be prevented from creating vulnerabilities on network hosts.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6AAF0F-8EAD-4971-89D6-469D640C4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573" y="966155"/>
            <a:ext cx="4900408" cy="297073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81337C-021F-4A1A-A9D9-821CECCCF3BE}"/>
              </a:ext>
            </a:extLst>
          </p:cNvPr>
          <p:cNvSpPr/>
          <p:nvPr/>
        </p:nvSpPr>
        <p:spPr>
          <a:xfrm>
            <a:off x="3886919" y="3974593"/>
            <a:ext cx="48620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+mn-lt"/>
              </a:rPr>
              <a:t>Application Blacklisting and Whitelisting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8289958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Application Security</a:t>
            </a:r>
            <a:br>
              <a:rPr altLang="en-US" dirty="0"/>
            </a:br>
            <a:r>
              <a:rPr lang="en-US" dirty="0"/>
              <a:t>Application Blacklisting and Whitelisting (Contd.)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83392" y="820917"/>
            <a:ext cx="4079064" cy="3829327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Websites can also be whitelisted and </a:t>
            </a:r>
            <a:br>
              <a:rPr lang="en-US" sz="1600" dirty="0"/>
            </a:br>
            <a:r>
              <a:rPr lang="en-US" sz="1600" dirty="0"/>
              <a:t>blacklisted. 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These blacklists can be manually created, or they can be obtained from various security services. 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Blacklists can be continuously updated by security services and distributed to </a:t>
            </a:r>
            <a:br>
              <a:rPr lang="en-US" sz="1600" dirty="0"/>
            </a:br>
            <a:r>
              <a:rPr lang="en-US" sz="1600" dirty="0"/>
              <a:t>firewalls and other security systems that </a:t>
            </a:r>
            <a:br>
              <a:rPr lang="en-US" sz="1600" dirty="0"/>
            </a:br>
            <a:r>
              <a:rPr lang="en-US" sz="1600" dirty="0"/>
              <a:t>use them.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Cisco’s Firepower security management </a:t>
            </a:r>
            <a:br>
              <a:rPr lang="en-US" sz="1600" dirty="0"/>
            </a:br>
            <a:r>
              <a:rPr lang="en-US" sz="1600" dirty="0"/>
              <a:t>system is an example of a system that can access the Cisco Talos security intelligence service to obtain blacklists.</a:t>
            </a:r>
            <a:endParaRPr lang="en-US" sz="1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970" y="828666"/>
            <a:ext cx="4825624" cy="387517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07581080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Application Security</a:t>
            </a:r>
            <a:br>
              <a:rPr altLang="en-US" dirty="0"/>
            </a:br>
            <a:r>
              <a:rPr lang="en-US" dirty="0"/>
              <a:t>System-Based Sandboxing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8890" y="820917"/>
            <a:ext cx="3412215" cy="3829327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Sandboxing is a technique that allows suspicious files to be executed and analyzed in a safe environment. 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Cuckoo Sandbox is a popular free malware analysis system sandbox. </a:t>
            </a:r>
            <a:r>
              <a:rPr lang="en-IN" sz="1600" dirty="0"/>
              <a:t>It can be run locally and have malware samples submitted to it for analysis.</a:t>
            </a:r>
            <a:r>
              <a:rPr lang="en-US" sz="1600" dirty="0"/>
              <a:t> </a:t>
            </a:r>
          </a:p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ANY.RUN is an online tool that offers the ability to upload a malware sample for analysis like any online sandbox.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ClrTx/>
              <a:buSzPct val="100000"/>
              <a:buNone/>
            </a:pPr>
            <a:r>
              <a:rPr lang="en-US" sz="1600" dirty="0"/>
              <a:t> </a:t>
            </a:r>
            <a:endParaRPr lang="en-US" sz="1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D56604-1C9B-493B-857B-197089943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8550" y="968139"/>
            <a:ext cx="5345725" cy="272310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5661846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Application Security</a:t>
            </a:r>
            <a:br>
              <a:rPr altLang="en-US" dirty="0"/>
            </a:br>
            <a:r>
              <a:rPr lang="en-US" dirty="0"/>
              <a:t>Video - Using a Sandbox to Launch Malware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5613" y="735678"/>
            <a:ext cx="8772211" cy="3901808"/>
          </a:xfrm>
        </p:spPr>
        <p:txBody>
          <a:bodyPr/>
          <a:lstStyle/>
          <a:p>
            <a:pPr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IN" sz="1600" dirty="0"/>
              <a:t>Play the video to view a demonstration of using sandbox environment to launch and </a:t>
            </a:r>
            <a:r>
              <a:rPr lang="en-IN" sz="1600" dirty="0" err="1"/>
              <a:t>analyze</a:t>
            </a:r>
            <a:r>
              <a:rPr lang="en-IN" sz="1600" dirty="0"/>
              <a:t> a malware attack.</a:t>
            </a:r>
            <a:endParaRPr lang="en-US" sz="1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6B7719-6583-452B-91BD-5D044BF21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2628" y="1376329"/>
            <a:ext cx="5647166" cy="325282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90527342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889744"/>
            <a:ext cx="8610600" cy="1364012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22.4 Endpoint Protection Summary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5922780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7E249FF-01FC-487E-B05D-F7C27AD5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065" y="63366"/>
            <a:ext cx="8999935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 lang="en-US" sz="2400" kern="1200">
                <a:solidFill>
                  <a:schemeClr val="accent4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Endpoint Protection Summary</a:t>
            </a:r>
            <a:br>
              <a:rPr altLang="en-US" dirty="0"/>
            </a:br>
            <a:r>
              <a:rPr lang="en-US" dirty="0"/>
              <a:t>What Did I Learn in this Module?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-2585" y="712431"/>
            <a:ext cx="9061343" cy="3829327"/>
          </a:xfrm>
        </p:spPr>
        <p:txBody>
          <a:bodyPr/>
          <a:lstStyle/>
          <a:p>
            <a:pPr marL="355600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Endpoints are defined as hosts on the network that can access or be accessed by other hosts on the network.</a:t>
            </a:r>
          </a:p>
          <a:p>
            <a:pPr marL="355600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There are two internal LAN elements to secure: Endpoints and Network Infrastructure.</a:t>
            </a:r>
          </a:p>
          <a:p>
            <a:pPr marL="355600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Antivirus/Antimalware Software is installed on a host to detect and mitigate viruses and malware. </a:t>
            </a:r>
          </a:p>
          <a:p>
            <a:pPr marL="355600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Host-based firewalls may use a set of predefined policies, or profiles, to control packets entering and leaving a computer. </a:t>
            </a:r>
          </a:p>
          <a:p>
            <a:pPr marL="355600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Some examples of host-based firewalls include Windows Defender Firewall, iptables, nftables, and TCP Wrappers.</a:t>
            </a:r>
          </a:p>
          <a:p>
            <a:pPr marL="355600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HIDS protects hosts against known and unknown malware. </a:t>
            </a:r>
          </a:p>
          <a:p>
            <a:pPr marL="355600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An attack surface is the total sum of the vulnerabilities in a given system that is accessible to an attacker. </a:t>
            </a:r>
          </a:p>
          <a:p>
            <a:pPr marL="355600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Application blacklists dictate which user applications are not permitted to run on a computer and whitelists specify which programs are allowed to run.</a:t>
            </a:r>
          </a:p>
          <a:p>
            <a:pPr marL="355600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55600">
              <a:spcBef>
                <a:spcPts val="300"/>
              </a:spcBef>
              <a:spcAft>
                <a:spcPts val="300"/>
              </a:spcAft>
              <a:buClrTx/>
              <a:buSzPct val="100000"/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3950187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0E6F39-0F2C-4B59-9668-10C5C0CA8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41393"/>
            <a:ext cx="9144000" cy="627347"/>
          </a:xfrm>
        </p:spPr>
        <p:txBody>
          <a:bodyPr/>
          <a:lstStyle/>
          <a:p>
            <a:pPr marL="95250"/>
            <a:r>
              <a:rPr lang="en-US" sz="1600" dirty="0"/>
              <a:t>Module 22</a:t>
            </a:r>
            <a:br>
              <a:rPr lang="en-US" altLang="en-US" dirty="0"/>
            </a:br>
            <a:r>
              <a:rPr lang="en-US" altLang="en-US" dirty="0"/>
              <a:t>New Terms and Commands</a:t>
            </a:r>
            <a:endParaRPr lang="en-US" dirty="0"/>
          </a:p>
        </p:txBody>
      </p:sp>
      <p:graphicFrame>
        <p:nvGraphicFramePr>
          <p:cNvPr id="4" name="Content Placeholder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818365"/>
              </p:ext>
            </p:extLst>
          </p:nvPr>
        </p:nvGraphicFramePr>
        <p:xfrm>
          <a:off x="462182" y="1340635"/>
          <a:ext cx="8224623" cy="782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50764">
                  <a:extLst>
                    <a:ext uri="{9D8B030D-6E8A-4147-A177-3AD203B41FA5}">
                      <a16:colId xmlns:a16="http://schemas.microsoft.com/office/drawing/2014/main" val="2731093094"/>
                    </a:ext>
                  </a:extLst>
                </a:gridCol>
                <a:gridCol w="2177512">
                  <a:extLst>
                    <a:ext uri="{9D8B030D-6E8A-4147-A177-3AD203B41FA5}">
                      <a16:colId xmlns:a16="http://schemas.microsoft.com/office/drawing/2014/main" val="2353496225"/>
                    </a:ext>
                  </a:extLst>
                </a:gridCol>
                <a:gridCol w="3696347">
                  <a:extLst>
                    <a:ext uri="{9D8B030D-6E8A-4147-A177-3AD203B41FA5}">
                      <a16:colId xmlns:a16="http://schemas.microsoft.com/office/drawing/2014/main" val="281959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Antivirus/Antimalware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Endpoint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3038" marR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Host-based firewall</a:t>
                      </a:r>
                    </a:p>
                    <a:p>
                      <a:pPr marL="173038" marR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Sandboxing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3038" marR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Host-based Intrusion Detection System (HIDS)</a:t>
                      </a:r>
                    </a:p>
                    <a:p>
                      <a:pPr marL="173038" marR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Attack Surface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0795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866890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7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30198</TotalTime>
  <Words>2298</Words>
  <Application>Microsoft Office PowerPoint</Application>
  <PresentationFormat>On-screen Show (16:9)</PresentationFormat>
  <Paragraphs>330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CiscoSans ExtraLight</vt:lpstr>
      <vt:lpstr>Wingdings</vt:lpstr>
      <vt:lpstr>Default Theme</vt:lpstr>
      <vt:lpstr>Module 22: Endpoint Protection</vt:lpstr>
      <vt:lpstr>Module Objectives</vt:lpstr>
      <vt:lpstr>22.1 Antimalware Protection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22.2 Host-Based Intrusion Protection</vt:lpstr>
      <vt:lpstr>PowerPoint Presentation</vt:lpstr>
      <vt:lpstr>PowerPoint Presentation</vt:lpstr>
      <vt:lpstr>PowerPoint Presentation</vt:lpstr>
      <vt:lpstr>PowerPoint Presentation</vt:lpstr>
      <vt:lpstr>22.3 Application Security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22.4 Endpoint Protection Summary</vt:lpstr>
      <vt:lpstr>PowerPoint Presentation</vt:lpstr>
      <vt:lpstr>Module 22 New Terms and Commands</vt:lpstr>
      <vt:lpstr>PowerPoint Presentation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Warren Earle</cp:lastModifiedBy>
  <cp:revision>1346</cp:revision>
  <dcterms:created xsi:type="dcterms:W3CDTF">2016-08-22T22:27:36Z</dcterms:created>
  <dcterms:modified xsi:type="dcterms:W3CDTF">2020-11-16T14:47:30Z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